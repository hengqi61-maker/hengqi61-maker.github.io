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11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estlake_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2000"/>
            <a:ext cx="12191999" cy="23317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394192" y="0"/>
            <a:ext cx="3794760" cy="6858000"/>
          </a:xfrm>
          <a:prstGeom prst="rect">
            <a:avLst/>
          </a:prstGeom>
          <a:solidFill>
            <a:srgbClr val="E8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adshot_squa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2" y="1042415"/>
            <a:ext cx="246888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05088" y="3794760"/>
            <a:ext cx="283464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>
                <a:solidFill>
                  <a:srgbClr val="111F2B"/>
                </a:solidFill>
                <a:latin typeface="Hiragino Sans GB"/>
              </a:rPr>
              <a:t>齐恒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8512" y="4261104"/>
            <a:ext cx="2907792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>
                <a:solidFill>
                  <a:srgbClr val="2A3440"/>
                </a:solidFill>
                <a:latin typeface="Hiragino Sans GB"/>
              </a:rPr>
              <a:t>东华大学物理学院
应用物理学（新能源与微电子）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384048"/>
            <a:ext cx="566928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1">
                <a:solidFill>
                  <a:srgbClr val="127584"/>
                </a:solidFill>
                <a:latin typeface="Aptos"/>
              </a:rPr>
              <a:t>A5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512" y="5047488"/>
            <a:ext cx="1508760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275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41664" y="5129783"/>
            <a:ext cx="1362456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1">
                <a:solidFill>
                  <a:srgbClr val="127584"/>
                </a:solidFill>
                <a:latin typeface="Hiragino Sans GB"/>
              </a:rPr>
              <a:t>GPA 3.91/5.00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14432" y="5047488"/>
            <a:ext cx="1225296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F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87584" y="5129783"/>
            <a:ext cx="1078992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1">
                <a:solidFill>
                  <a:srgbClr val="4F805E"/>
                </a:solidFill>
                <a:latin typeface="Hiragino Sans GB"/>
              </a:rPr>
              <a:t>Rank 5/65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05672" y="5486400"/>
            <a:ext cx="859536" cy="859536"/>
          </a:xfrm>
          <a:prstGeom prst="roundRect">
            <a:avLst/>
          </a:prstGeom>
          <a:solidFill>
            <a:srgbClr val="EFF7F8"/>
          </a:solidFill>
          <a:ln w="8890">
            <a:solidFill>
              <a:srgbClr val="C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omepage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536" y="5541264"/>
            <a:ext cx="749808" cy="749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4232" y="6400800"/>
            <a:ext cx="1060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127584"/>
                </a:solidFill>
                <a:latin typeface="Hiragino Sans GB"/>
              </a:rPr>
              <a:t>扫码看个人主页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65792" y="5660136"/>
            <a:ext cx="16916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27584"/>
                </a:solidFill>
                <a:latin typeface="Aptos"/>
              </a:rPr>
              <a:t>hengqi61-maker.github.io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65792" y="5925312"/>
            <a:ext cx="1627632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>
                <a:solidFill>
                  <a:srgbClr val="606C7A"/>
                </a:solidFill>
                <a:latin typeface="Hiragino Sans GB"/>
              </a:rPr>
              <a:t>项目入口 · 个人经历 · GitHub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DF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DFEFF3"/>
                </a:solidFill>
                <a:latin typeface="Aptos"/>
              </a:rPr>
              <a:t>WESTLAKE SCIENCE SUMMER CAMP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DFEFF3"/>
                </a:solidFill>
                <a:latin typeface="Hiragino Sans GB"/>
              </a:rPr>
              <a:t>个人成果汇报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941832"/>
            <a:ext cx="420624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DFEFF3"/>
                </a:solidFill>
                <a:latin typeface="Hiragino Sans GB"/>
              </a:rPr>
              <a:t>西湖大学理学院夏令营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481328"/>
            <a:ext cx="6492240" cy="1417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Hiragino Sans GB"/>
              </a:rPr>
              <a:t>从物理问题到
</a:t>
            </a:r>
            <a:r>
              <a:rPr sz="3400" b="1">
                <a:solidFill>
                  <a:srgbClr val="B7E2E0"/>
                </a:solidFill>
                <a:latin typeface="Hiragino Sans GB"/>
              </a:rPr>
              <a:t>可复现计算系统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246120"/>
            <a:ext cx="46634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C8D8DC"/>
                </a:solidFill>
                <a:latin typeface="Hiragino Sans GB"/>
              </a:rPr>
              <a:t>个人学术背景与博士阶段科研计划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3977639"/>
            <a:ext cx="64465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D8E7E8"/>
                </a:solidFill>
                <a:latin typeface="Hiragino Sans GB"/>
              </a:rPr>
              <a:t>主线：物理模型理解  →  数值模拟与可视化  →  AI for Science 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6236208"/>
            <a:ext cx="521208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B8C9CE"/>
                </a:solidFill>
                <a:latin typeface="Aptos"/>
              </a:rPr>
              <a:t>2026.07 · Westlake University School of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ACADEMIC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学术背景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Hiragino Sans GB"/>
              </a:rPr>
              <a:t>物理与数学课程构成后续计算训练的底座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Hiragino Sans GB"/>
              </a:rPr>
              <a:t>不堆叠证明材料，重点说明这些基础如何支撑建模、推导、数值实现和结果解释。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157276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93391"/>
            <a:ext cx="12801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27584"/>
                </a:solidFill>
                <a:latin typeface="Aptos"/>
              </a:rPr>
              <a:t>3.91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59152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Hiragino Sans GB"/>
              </a:rPr>
              <a:t>GPA / 5.00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2304" y="1874519"/>
            <a:ext cx="157276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1993391"/>
            <a:ext cx="12801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4F805E"/>
                </a:solidFill>
                <a:latin typeface="Aptos"/>
              </a:rPr>
              <a:t>89.1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608" y="2359152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Hiragino Sans GB"/>
              </a:rPr>
              <a:t>百分制均分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874519"/>
            <a:ext cx="175564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993391"/>
            <a:ext cx="1463039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C48436"/>
                </a:solidFill>
                <a:latin typeface="Aptos"/>
              </a:rPr>
              <a:t>5 / 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2544" y="2359152"/>
            <a:ext cx="1463039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Hiragino Sans GB"/>
              </a:rPr>
              <a:t>专业排名 · 前 7.7%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874519"/>
            <a:ext cx="138988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93391"/>
            <a:ext cx="109728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665080"/>
                </a:solidFill>
                <a:latin typeface="Aptos"/>
              </a:rPr>
              <a:t>551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59152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Hiragino Sans GB"/>
              </a:rPr>
              <a:t>CET-6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764792"/>
            <a:ext cx="2468880" cy="28163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42832" y="2011680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121B27"/>
                </a:solidFill>
                <a:latin typeface="Hiragino Sans GB"/>
              </a:rPr>
              <a:t>核心课程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2363724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经典力学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5792" y="2427732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65792" y="2427732"/>
            <a:ext cx="914400" cy="64008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71632" y="2350008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127584"/>
                </a:solidFill>
                <a:latin typeface="Aptos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2610612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光学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65792" y="2674620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792" y="2674620"/>
            <a:ext cx="905256" cy="64008"/>
          </a:xfrm>
          <a:prstGeom prst="rect">
            <a:avLst/>
          </a:prstGeom>
          <a:solidFill>
            <a:srgbClr val="279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71632" y="2596896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279789"/>
                </a:solidFill>
                <a:latin typeface="Aptos"/>
              </a:rPr>
              <a:t>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42832" y="2857500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数学物理方法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65792" y="2921508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65792" y="2921508"/>
            <a:ext cx="896112" cy="64008"/>
          </a:xfrm>
          <a:prstGeom prst="rect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71632" y="2843784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4F805E"/>
                </a:solidFill>
                <a:latin typeface="Aptos"/>
              </a:rPr>
              <a:t>98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2832" y="3104388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线性代数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65792" y="3168396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65792" y="3168396"/>
            <a:ext cx="868680" cy="64008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71632" y="3090672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127584"/>
                </a:solidFill>
                <a:latin typeface="Aptos"/>
              </a:rPr>
              <a:t>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42832" y="3351276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偏微分方程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65792" y="3415284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65792" y="3415284"/>
            <a:ext cx="841248" cy="64008"/>
          </a:xfrm>
          <a:prstGeom prst="rect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71632" y="3337560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C48436"/>
                </a:solidFill>
                <a:latin typeface="Aptos"/>
              </a:rPr>
              <a:t>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42832" y="3598164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量子力学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65792" y="3662172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65792" y="3662172"/>
            <a:ext cx="832104" cy="64008"/>
          </a:xfrm>
          <a:prstGeom prst="rect">
            <a:avLst/>
          </a:prstGeom>
          <a:solidFill>
            <a:srgbClr val="66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71632" y="3584448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665080"/>
                </a:solidFill>
                <a:latin typeface="Aptos"/>
              </a:rPr>
              <a:t>91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2832" y="3845052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电磁学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65792" y="3909060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65792" y="3909060"/>
            <a:ext cx="822960" cy="64008"/>
          </a:xfrm>
          <a:prstGeom prst="rect">
            <a:avLst/>
          </a:prstGeom>
          <a:solidFill>
            <a:srgbClr val="2A3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71632" y="3831336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2A3440"/>
                </a:solidFill>
                <a:latin typeface="Aptos"/>
              </a:rPr>
              <a:t>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42832" y="4091939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Hiragino Sans GB"/>
              </a:rPr>
              <a:t>固体物理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65792" y="4155948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765792" y="4155948"/>
            <a:ext cx="832104" cy="64008"/>
          </a:xfrm>
          <a:prstGeom prst="rect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71632" y="4078224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4F805E"/>
                </a:solidFill>
                <a:latin typeface="Aptos"/>
              </a:rPr>
              <a:t>91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3232" y="3977639"/>
            <a:ext cx="2395728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14400" y="4261104"/>
            <a:ext cx="310896" cy="310896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8116" y="4357116"/>
            <a:ext cx="283464" cy="1097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53312" y="4187952"/>
            <a:ext cx="1417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21B27"/>
                </a:solidFill>
                <a:latin typeface="Hiragino Sans GB"/>
              </a:rPr>
              <a:t>物理图像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53312" y="4489704"/>
            <a:ext cx="1481328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从经典、量子、电磁和固体物理中识别模型对象与适用边界。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2424" y="3977639"/>
            <a:ext cx="2395728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593592" y="4261104"/>
            <a:ext cx="310896" cy="310896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07308" y="4357116"/>
            <a:ext cx="283464" cy="1097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32504" y="4187952"/>
            <a:ext cx="1417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21B27"/>
                </a:solidFill>
                <a:latin typeface="Hiragino Sans GB"/>
              </a:rPr>
              <a:t>数学表达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32504" y="4489704"/>
            <a:ext cx="1481328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用数学物理方法、线性代数和偏微分方程承接推导与离散化。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71616" y="3977639"/>
            <a:ext cx="2395728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272784" y="4261104"/>
            <a:ext cx="310896" cy="310896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86500" y="4357116"/>
            <a:ext cx="283464" cy="1097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11696" y="4187952"/>
            <a:ext cx="1417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21B27"/>
                </a:solidFill>
                <a:latin typeface="Hiragino Sans GB"/>
              </a:rPr>
              <a:t>计算实现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11696" y="4489704"/>
            <a:ext cx="1481328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用 Python / Matlab / LaTeX 将公式转化为可检验的数值流程。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" y="5614416"/>
            <a:ext cx="105156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>
                <a:solidFill>
                  <a:srgbClr val="121B27"/>
                </a:solidFill>
                <a:latin typeface="Hiragino Sans GB"/>
              </a:rPr>
              <a:t>结论：我申请西湖时的核心定位，不是单一软件能力，而是物理理解、数值建模和工程实现的组合。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66928" y="6483096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Hiragino Sans GB"/>
              </a:rPr>
              <a:t>齐恒 · 东华大学物理学院 · 应用物理学（新能源与微电子）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6483096"/>
            <a:ext cx="35661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40" b="0">
                <a:solidFill>
                  <a:srgbClr val="7F8D9D"/>
                </a:solidFill>
                <a:latin typeface="Hiragino Sans GB"/>
              </a:rPr>
              <a:t>西湖大学理学院夏令营个人成果汇报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36808" y="6483096"/>
            <a:ext cx="60350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Aptos"/>
              </a:rPr>
              <a:t>02/06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SELF-DRIVEN EXPLORATION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完整的我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Hiragino Sans GB"/>
              </a:rPr>
              <a:t>独立远行训练了我面对未知时的推进方式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Hiragino Sans GB"/>
              </a:rPr>
              <a:t>我不是把徒步当成装饰经历，而是把它理解为规划、判断风险、处理意外和复盘迭代的长期训练。</a:t>
            </a:r>
          </a:p>
        </p:txBody>
      </p:sp>
      <p:pic>
        <p:nvPicPr>
          <p:cNvPr id="7" name="Picture 6" descr="hike_l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01952"/>
            <a:ext cx="1682496" cy="1261872"/>
          </a:xfrm>
          <a:prstGeom prst="rect">
            <a:avLst/>
          </a:prstGeom>
        </p:spPr>
      </p:pic>
      <p:pic>
        <p:nvPicPr>
          <p:cNvPr id="8" name="Picture 7" descr="hike_mount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1901952"/>
            <a:ext cx="1682496" cy="1261872"/>
          </a:xfrm>
          <a:prstGeom prst="rect">
            <a:avLst/>
          </a:prstGeom>
        </p:spPr>
      </p:pic>
      <p:pic>
        <p:nvPicPr>
          <p:cNvPr id="9" name="Picture 8" descr="snow_mountai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1901952"/>
            <a:ext cx="1682496" cy="12618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8368" y="3364992"/>
            <a:ext cx="5440680" cy="17190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621024"/>
            <a:ext cx="2560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21B27"/>
                </a:solidFill>
                <a:latin typeface="Hiragino Sans GB"/>
              </a:rPr>
              <a:t>旅行与徒步给我的训练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4087368"/>
            <a:ext cx="109728" cy="109728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032504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127584"/>
                </a:solidFill>
                <a:latin typeface="Hiragino Sans GB"/>
              </a:rPr>
              <a:t>路线与预算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4032504"/>
            <a:ext cx="3520440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606C7A"/>
                </a:solidFill>
                <a:latin typeface="Hiragino Sans GB"/>
              </a:rPr>
              <a:t>把目标拆成路线、时间、装备、补给和预算。</a:t>
            </a:r>
          </a:p>
        </p:txBody>
      </p:sp>
      <p:sp>
        <p:nvSpPr>
          <p:cNvPr id="15" name="Oval 14"/>
          <p:cNvSpPr/>
          <p:nvPr/>
        </p:nvSpPr>
        <p:spPr>
          <a:xfrm>
            <a:off x="941832" y="4407407"/>
            <a:ext cx="109728" cy="109728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52544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4F805E"/>
                </a:solidFill>
                <a:latin typeface="Hiragino Sans GB"/>
              </a:rPr>
              <a:t>风险判断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4248" y="4352544"/>
            <a:ext cx="3520440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606C7A"/>
                </a:solidFill>
                <a:latin typeface="Hiragino Sans GB"/>
              </a:rPr>
              <a:t>在天气、迷路、设备和语言环境变化中快速决策。</a:t>
            </a:r>
          </a:p>
        </p:txBody>
      </p:sp>
      <p:sp>
        <p:nvSpPr>
          <p:cNvPr id="18" name="Oval 17"/>
          <p:cNvSpPr/>
          <p:nvPr/>
        </p:nvSpPr>
        <p:spPr>
          <a:xfrm>
            <a:off x="941832" y="4727448"/>
            <a:ext cx="109728" cy="109728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672584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C48436"/>
                </a:solidFill>
                <a:latin typeface="Hiragino Sans GB"/>
              </a:rPr>
              <a:t>复盘迭代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4248" y="4672584"/>
            <a:ext cx="3520440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606C7A"/>
                </a:solidFill>
                <a:latin typeface="Hiragino Sans GB"/>
              </a:rPr>
              <a:t>把一次次问题转化为下一次更可靠的方案。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1883664"/>
            <a:ext cx="4983480" cy="3218688"/>
          </a:xfrm>
          <a:prstGeom prst="roundRect">
            <a:avLst/>
          </a:prstGeom>
          <a:solidFill>
            <a:srgbClr val="EDF5F5"/>
          </a:solidFill>
          <a:ln w="8890">
            <a:solidFill>
              <a:srgbClr val="C9D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3992" y="2212848"/>
            <a:ext cx="16459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27584"/>
                </a:solidFill>
                <a:latin typeface="Hiragino Sans GB"/>
              </a:rPr>
              <a:t>迁移到科研训练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2633472"/>
            <a:ext cx="4005072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21B27"/>
                </a:solidFill>
                <a:latin typeface="Hiragino Sans GB"/>
              </a:rPr>
              <a:t>我现在的项目也沿用同一种方式：先做出可运行版本，再暴露问题、补齐知识、继续迭代。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3456432"/>
            <a:ext cx="3108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27584"/>
                </a:solidFill>
                <a:latin typeface="Aptos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42048" y="3447288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19" b="1">
                <a:solidFill>
                  <a:srgbClr val="121B27"/>
                </a:solidFill>
                <a:latin typeface="Hiragino Sans GB"/>
              </a:rPr>
              <a:t>不确定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7" y="3447288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0">
                <a:solidFill>
                  <a:srgbClr val="606C7A"/>
                </a:solidFill>
                <a:latin typeface="Hiragino Sans GB"/>
              </a:rPr>
              <a:t>方向未完全收敛，但主动调研、联系老师、比较课题组。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3931920"/>
            <a:ext cx="3108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27584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3922776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19" b="1">
                <a:solidFill>
                  <a:srgbClr val="121B27"/>
                </a:solidFill>
                <a:latin typeface="Hiragino Sans GB"/>
              </a:rPr>
              <a:t>可执行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2127" y="39227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0">
                <a:solidFill>
                  <a:srgbClr val="606C7A"/>
                </a:solidFill>
                <a:latin typeface="Hiragino Sans GB"/>
              </a:rPr>
              <a:t>把模糊兴趣拆成公式、代码、图像和测试。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4407408"/>
            <a:ext cx="3108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27584"/>
                </a:solidFill>
                <a:latin typeface="Apto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2048" y="4398264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19" b="1">
                <a:solidFill>
                  <a:srgbClr val="121B27"/>
                </a:solidFill>
                <a:latin typeface="Hiragino Sans GB"/>
              </a:rPr>
              <a:t>可复盘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82127" y="4398264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0">
                <a:solidFill>
                  <a:srgbClr val="606C7A"/>
                </a:solidFill>
                <a:latin typeface="Hiragino Sans GB"/>
              </a:rPr>
              <a:t>用网页、GitHub、文档保存过程，而不是只留下结果。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1033272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20" b="1">
                <a:solidFill>
                  <a:srgbClr val="121B27"/>
                </a:solidFill>
                <a:latin typeface="Hiragino Sans GB"/>
              </a:rPr>
              <a:t>关键词：自驱探索 / 独立规划 / 快速试错 / 持续迭代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483096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Hiragino Sans GB"/>
              </a:rPr>
              <a:t>齐恒 · 东华大学物理学院 · 应用物理学（新能源与微电子）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6483096"/>
            <a:ext cx="35661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40" b="0">
                <a:solidFill>
                  <a:srgbClr val="7F8D9D"/>
                </a:solidFill>
                <a:latin typeface="Hiragino Sans GB"/>
              </a:rPr>
              <a:t>西湖大学理学院夏令营个人成果汇报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36808" y="6483096"/>
            <a:ext cx="60350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Aptos"/>
              </a:rPr>
              <a:t>03/06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PROJECT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项目证据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Hiragino Sans GB"/>
              </a:rPr>
              <a:t>项目重点不是“成果成熟”，而是自驱拆解和实现能力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Hiragino Sans GB"/>
              </a:rPr>
              <a:t>我更适合被理解为：能从一个真实问题出发，快速做出可运行系统，并在错误中继续收敛。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08208" y="786384"/>
            <a:ext cx="804672" cy="804672"/>
          </a:xfrm>
          <a:prstGeom prst="roundRect">
            <a:avLst/>
          </a:prstGeom>
          <a:solidFill>
            <a:srgbClr val="EFF7F8"/>
          </a:solidFill>
          <a:ln w="8890">
            <a:solidFill>
              <a:srgbClr val="C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omepage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3072" y="841247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16768" y="1645920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127584"/>
                </a:solidFill>
                <a:latin typeface="Hiragino Sans GB"/>
              </a:rPr>
              <a:t>扫码看主页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932688"/>
            <a:ext cx="17373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50" b="1">
                <a:solidFill>
                  <a:srgbClr val="127584"/>
                </a:solidFill>
                <a:latin typeface="Hiragino Sans GB"/>
              </a:rPr>
              <a:t>个人主页与 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8512" y="1207008"/>
            <a:ext cx="186537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60" b="0">
                <a:solidFill>
                  <a:srgbClr val="606C7A"/>
                </a:solidFill>
                <a:latin typeface="Aptos"/>
              </a:rPr>
              <a:t>hengqi61-maker.github.io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28800"/>
            <a:ext cx="3401568" cy="35661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21945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127584"/>
                </a:solidFill>
                <a:latin typeface="Aptos"/>
              </a:rPr>
              <a:t>QUANTUM / VISUALIZATION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368296"/>
            <a:ext cx="2852928" cy="3017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80" b="1">
                <a:solidFill>
                  <a:srgbClr val="121B27"/>
                </a:solidFill>
                <a:latin typeface="Hiragino Sans GB"/>
              </a:rPr>
              <a:t>氢原子轨道电子云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871216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127584"/>
                </a:solidFill>
                <a:latin typeface="Hiragino Sans GB"/>
              </a:rPr>
              <a:t>问题来源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862072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想理解轨道形状到底应由什么定义，而不只是背图像。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584448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127584"/>
                </a:solidFill>
                <a:latin typeface="Hiragino Sans GB"/>
              </a:rPr>
              <a:t>实现路径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575304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从 |psi(r,theta,phi)|^2 出发，用 Monte Carlo 采样和三维可视化检验理解。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297680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127584"/>
                </a:solidFill>
                <a:latin typeface="Hiragino Sans GB"/>
              </a:rPr>
              <a:t>证明能力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288536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能把公式、概率分布、采样误差和可视化结果串起来。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1828800"/>
            <a:ext cx="3401568" cy="35661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2066543"/>
            <a:ext cx="21945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4F805E"/>
                </a:solidFill>
                <a:latin typeface="Aptos"/>
              </a:rPr>
              <a:t>SOLID PHYSICS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2368296"/>
            <a:ext cx="2852928" cy="3017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80" b="1">
                <a:solidFill>
                  <a:srgbClr val="121B27"/>
                </a:solidFill>
                <a:latin typeface="Hiragino Sans GB"/>
              </a:rPr>
              <a:t>晶体结构与倒空间教具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0016" y="2871216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4F805E"/>
                </a:solidFill>
                <a:latin typeface="Hiragino Sans GB"/>
              </a:rPr>
              <a:t>问题来源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4104" y="2862072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固体物理中的 Miller 指数、倒格子、布里渊区较抽象。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3584448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4F805E"/>
                </a:solidFill>
                <a:latin typeface="Hiragino Sans GB"/>
              </a:rPr>
              <a:t>实现路径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4104" y="3575304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把 SC/BCC/FCC/HCP、正倒空间、Ewald 球等做成交互对象。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0016" y="4297680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4F805E"/>
                </a:solidFill>
                <a:latin typeface="Hiragino Sans GB"/>
              </a:rPr>
              <a:t>证明能力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4288536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能把空间几何关系转化为可观察、可调参的教学工具。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66176" y="1828800"/>
            <a:ext cx="3401568" cy="35661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85632" y="2066543"/>
            <a:ext cx="21945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665080"/>
                </a:solidFill>
                <a:latin typeface="Aptos"/>
              </a:rPr>
              <a:t>AI WORKFLOW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5632" y="2368296"/>
            <a:ext cx="2852928" cy="3017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80" b="1">
                <a:solidFill>
                  <a:srgbClr val="121B27"/>
                </a:solidFill>
                <a:latin typeface="Hiragino Sans GB"/>
              </a:rPr>
              <a:t>Memory Engine / Agent 工具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2871216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65080"/>
                </a:solidFill>
                <a:latin typeface="Hiragino Sans GB"/>
              </a:rPr>
              <a:t>问题来源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8008" y="2862072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大模型上下文有限，重要信息容易遗忘，科研过程也需要长期记录。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584448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65080"/>
                </a:solidFill>
                <a:latin typeface="Hiragino Sans GB"/>
              </a:rPr>
              <a:t>实现路径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8008" y="3575304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做长期记忆、语义检索、衰减、巩固和文档化流程。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4297680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65080"/>
                </a:solidFill>
                <a:latin typeface="Hiragino Sans GB"/>
              </a:rPr>
              <a:t>证明能力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08008" y="4288536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能用 AI 协作提升学习、代码实验和科研工作流效率。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605272"/>
            <a:ext cx="10561320" cy="393192"/>
          </a:xfrm>
          <a:prstGeom prst="roundRect">
            <a:avLst/>
          </a:prstGeom>
          <a:solidFill>
            <a:srgbClr val="EDF5F5"/>
          </a:solidFill>
          <a:ln w="8890">
            <a:solidFill>
              <a:srgbClr val="C9D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4128" y="5715000"/>
            <a:ext cx="10104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60" b="1">
                <a:solidFill>
                  <a:srgbClr val="127584"/>
                </a:solidFill>
                <a:latin typeface="Hiragino Sans GB"/>
              </a:rPr>
              <a:t>共同证明：我会主动找问题、做原型、验证和迭代。更多项目证据可扫码查看个人主页。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6928" y="6483096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Hiragino Sans GB"/>
              </a:rPr>
              <a:t>齐恒 · 东华大学物理学院 · 应用物理学（新能源与微电子）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0640" y="6483096"/>
            <a:ext cx="35661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40" b="0">
                <a:solidFill>
                  <a:srgbClr val="7F8D9D"/>
                </a:solidFill>
                <a:latin typeface="Hiragino Sans GB"/>
              </a:rPr>
              <a:t>西湖大学理学院夏令营个人成果汇报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36808" y="6483096"/>
            <a:ext cx="60350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Aptos"/>
              </a:rPr>
              <a:t>04/06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PHD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Hiragino Sans GB"/>
              </a:rPr>
              <a:t>博士阶段科研计划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Hiragino Sans GB"/>
              </a:rPr>
              <a:t>博士阶段：在开放探索中逐步收敛到清晰问题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Hiragino Sans GB"/>
              </a:rPr>
              <a:t>我还没有把未来锁死在单一细分方向上，但已经明确希望接受计算物理、量子/凝聚态体系与 AI for Science 的系统训练。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3749039" cy="32186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76272"/>
            <a:ext cx="1143000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21B27"/>
                </a:solidFill>
                <a:latin typeface="Hiragino Sans GB"/>
              </a:rPr>
              <a:t>核心问题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3127248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>
                <a:solidFill>
                  <a:srgbClr val="121B27"/>
                </a:solidFill>
                <a:latin typeface="Hiragino Sans GB"/>
              </a:rPr>
              <a:t>在量子、凝聚态或生物物理相关复杂体系中，如何结合物理先验、数值模拟与机器学习，让模型计算和结果分析更高效、更可复核？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" y="3822191"/>
            <a:ext cx="932688" cy="310896"/>
          </a:xfrm>
          <a:prstGeom prst="roundRect">
            <a:avLst/>
          </a:prstGeom>
          <a:solidFill>
            <a:srgbClr val="EEF7F8"/>
          </a:solidFill>
          <a:ln w="10160">
            <a:solidFill>
              <a:srgbClr val="1275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904487"/>
            <a:ext cx="786384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50" b="1">
                <a:solidFill>
                  <a:srgbClr val="127584"/>
                </a:solidFill>
                <a:latin typeface="Hiragino Sans GB"/>
              </a:rPr>
              <a:t>量子体系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1952" y="3822191"/>
            <a:ext cx="786384" cy="310896"/>
          </a:xfrm>
          <a:prstGeom prst="roundRect">
            <a:avLst/>
          </a:prstGeom>
          <a:solidFill>
            <a:srgbClr val="EEF6F0"/>
          </a:solidFill>
          <a:ln w="10160">
            <a:solidFill>
              <a:srgbClr val="4F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75104" y="3904487"/>
            <a:ext cx="640080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50" b="1">
                <a:solidFill>
                  <a:srgbClr val="4F805E"/>
                </a:solidFill>
                <a:latin typeface="Hiragino Sans GB"/>
              </a:rPr>
              <a:t>凝聚态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9776" y="3822191"/>
            <a:ext cx="896112" cy="310896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C4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2928" y="3904487"/>
            <a:ext cx="749808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50" b="1">
                <a:solidFill>
                  <a:srgbClr val="C48436"/>
                </a:solidFill>
                <a:latin typeface="Hiragino Sans GB"/>
              </a:rPr>
              <a:t>生物物理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4224528"/>
            <a:ext cx="1097280" cy="310896"/>
          </a:xfrm>
          <a:prstGeom prst="roundRect">
            <a:avLst/>
          </a:prstGeom>
          <a:solidFill>
            <a:srgbClr val="F3F0F7"/>
          </a:solidFill>
          <a:ln w="10160">
            <a:solidFill>
              <a:srgbClr val="665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36192" y="4306824"/>
            <a:ext cx="950976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50" b="1">
                <a:solidFill>
                  <a:srgbClr val="665080"/>
                </a:solidFill>
                <a:latin typeface="Hiragino Sans GB"/>
              </a:rPr>
              <a:t>AI4Science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645152"/>
            <a:ext cx="29718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150" b="1">
                <a:solidFill>
                  <a:srgbClr val="127584"/>
                </a:solidFill>
                <a:latin typeface="Hiragino Sans GB"/>
              </a:rPr>
              <a:t>原则：先理解物理，再引入工具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874519"/>
            <a:ext cx="2761488" cy="11704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303520" y="2093976"/>
            <a:ext cx="347472" cy="347472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62956" y="2203703"/>
            <a:ext cx="228600" cy="1005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8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9008" y="2103120"/>
            <a:ext cx="1417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20" b="1">
                <a:solidFill>
                  <a:srgbClr val="121B27"/>
                </a:solidFill>
                <a:latin typeface="Hiragino Sans GB"/>
              </a:rPr>
              <a:t>补强基础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9008" y="2432303"/>
            <a:ext cx="1847088" cy="4206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量子力学、统计物理、凝聚态物理、数值线性代数、机器学习。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38744" y="1874519"/>
            <a:ext cx="2761488" cy="11704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39912" y="2093976"/>
            <a:ext cx="347472" cy="347472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99348" y="2203703"/>
            <a:ext cx="228600" cy="1005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8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103120"/>
            <a:ext cx="1417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20" b="1">
                <a:solidFill>
                  <a:srgbClr val="121B27"/>
                </a:solidFill>
                <a:latin typeface="Hiragino Sans GB"/>
              </a:rPr>
              <a:t>复现论文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2432303"/>
            <a:ext cx="1847088" cy="4206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复现代表性数值方法，训练文献阅读、代码复现和结果复核。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02352" y="3447287"/>
            <a:ext cx="2761488" cy="11704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03520" y="3666744"/>
            <a:ext cx="347472" cy="347472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62956" y="3776472"/>
            <a:ext cx="228600" cy="1005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8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8" y="3675887"/>
            <a:ext cx="1417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20" b="1">
                <a:solidFill>
                  <a:srgbClr val="121B27"/>
                </a:solidFill>
                <a:latin typeface="Hiragino Sans GB"/>
              </a:rPr>
              <a:t>跟随导师收敛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4005072"/>
            <a:ext cx="1847088" cy="4206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通过组会、文献和小课题，选择真正适合自己的物理问题。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38744" y="3447287"/>
            <a:ext cx="2761488" cy="11704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439912" y="3666744"/>
            <a:ext cx="347472" cy="347472"/>
          </a:xfrm>
          <a:prstGeom prst="ellipse">
            <a:avLst/>
          </a:prstGeom>
          <a:solidFill>
            <a:srgbClr val="66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99348" y="3776472"/>
            <a:ext cx="228600" cy="1005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8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3675887"/>
            <a:ext cx="1417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20" b="1">
                <a:solidFill>
                  <a:srgbClr val="121B27"/>
                </a:solidFill>
                <a:latin typeface="Hiragino Sans GB"/>
              </a:rPr>
              <a:t>沉淀工具链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4005072"/>
            <a:ext cx="1847088" cy="4206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0" b="0">
                <a:solidFill>
                  <a:srgbClr val="606C7A"/>
                </a:solidFill>
                <a:latin typeface="Hiragino Sans GB"/>
              </a:rPr>
              <a:t>构建参数实验、图表归档、代码检查和 Agent 辅助科研流程。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5230368"/>
            <a:ext cx="5907024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350" b="1">
                <a:solidFill>
                  <a:srgbClr val="121B27"/>
                </a:solidFill>
                <a:latin typeface="Hiragino Sans GB"/>
              </a:rPr>
              <a:t>预期成长：在西湖的长周期训练中，把自驱探索变成稳定、严格、可复现的研究积累。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6928" y="6483096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Hiragino Sans GB"/>
              </a:rPr>
              <a:t>齐恒 · 东华大学物理学院 · 应用物理学（新能源与微电子）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6483096"/>
            <a:ext cx="35661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40" b="0">
                <a:solidFill>
                  <a:srgbClr val="7F8D9D"/>
                </a:solidFill>
                <a:latin typeface="Hiragino Sans GB"/>
              </a:rPr>
              <a:t>西湖大学理学院夏令营个人成果汇报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36808" y="6483096"/>
            <a:ext cx="60350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Aptos"/>
              </a:rPr>
              <a:t>05/06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11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DFE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DFEFF3"/>
                </a:solidFill>
                <a:latin typeface="Aptos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DFEFF3"/>
                </a:solidFill>
                <a:latin typeface="Hiragino Sans GB"/>
              </a:rPr>
              <a:t>收束与问答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56692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>
                <a:solidFill>
                  <a:srgbClr val="FFFFFF"/>
                </a:solidFill>
                <a:latin typeface="Hiragino Sans GB"/>
              </a:rPr>
              <a:t>我希望西湖看到的是一个完整的人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603504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CBDCE0"/>
                </a:solidFill>
                <a:latin typeface="Hiragino Sans GB"/>
              </a:rPr>
              <a:t>基础扎实，但还在收敛方向；成果不算成熟，但自驱探索和实现能力真实存在。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2286000"/>
            <a:ext cx="292608" cy="292608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2382012"/>
            <a:ext cx="128016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2240280"/>
            <a:ext cx="16916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学术底座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2" y="2258568"/>
            <a:ext cx="34747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0">
                <a:solidFill>
                  <a:srgbClr val="CBDCE0"/>
                </a:solidFill>
                <a:latin typeface="Hiragino Sans GB"/>
              </a:rPr>
              <a:t>物理与数学课程支撑后续建模和数值训练。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3200400"/>
            <a:ext cx="292608" cy="292608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3296412"/>
            <a:ext cx="128016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154680"/>
            <a:ext cx="16916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自驱探索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7792" y="3172968"/>
            <a:ext cx="34747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0">
                <a:solidFill>
                  <a:srgbClr val="CBDCE0"/>
                </a:solidFill>
                <a:latin typeface="Hiragino Sans GB"/>
              </a:rPr>
              <a:t>从徒步旅行到主动做项目，习惯先行动再迭代。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4114800"/>
            <a:ext cx="292608" cy="292608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4210812"/>
            <a:ext cx="128016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4069080"/>
            <a:ext cx="16916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FFFFF"/>
                </a:solidFill>
                <a:latin typeface="Hiragino Sans GB"/>
              </a:rPr>
              <a:t>可复现能力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7792" y="4087368"/>
            <a:ext cx="34747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0">
                <a:solidFill>
                  <a:srgbClr val="CBDCE0"/>
                </a:solidFill>
                <a:latin typeface="Hiragino Sans GB"/>
              </a:rPr>
              <a:t>用代码、网页和文档沉淀问题、方法和结果。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0" y="1078992"/>
            <a:ext cx="4069080" cy="4096512"/>
          </a:xfrm>
          <a:prstGeom prst="roundRect">
            <a:avLst/>
          </a:prstGeom>
          <a:solidFill>
            <a:srgbClr val="E8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1444752"/>
            <a:ext cx="11430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127584"/>
                </a:solidFill>
                <a:latin typeface="Hiragino Sans GB"/>
              </a:rPr>
              <a:t>汇报收束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1874519"/>
            <a:ext cx="3337560" cy="9601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400" b="1">
                <a:solidFill>
                  <a:srgbClr val="111F2B"/>
                </a:solidFill>
                <a:latin typeface="Hiragino Sans GB"/>
              </a:rPr>
              <a:t>把探索未知的习惯，
转化为扎实、可复现的科研能力。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3246120"/>
            <a:ext cx="29718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60" b="1">
                <a:solidFill>
                  <a:srgbClr val="2A3440"/>
                </a:solidFill>
                <a:latin typeface="Hiragino Sans GB"/>
              </a:rPr>
              <a:t>希望在西湖接受更严格、长期的科研训练。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160520"/>
            <a:ext cx="2999232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9" b="0">
                <a:solidFill>
                  <a:srgbClr val="606C7A"/>
                </a:solidFill>
                <a:latin typeface="Aptos"/>
              </a:rPr>
              <a:t>hengqi61@gmail.com
github.com/hengqi61-maker
hengqi61-maker.github.io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153912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A9BDC2"/>
                </a:solidFill>
                <a:latin typeface="Aptos"/>
              </a:rPr>
              <a:t>THANK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15391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>
                <a:solidFill>
                  <a:srgbClr val="A9BDC2"/>
                </a:solidFill>
                <a:latin typeface="Hiragino Sans GB"/>
              </a:rPr>
              <a:t>齐恒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