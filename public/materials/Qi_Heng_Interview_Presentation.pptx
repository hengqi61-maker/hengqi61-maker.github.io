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1.jpe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2.jpeg" ContentType="image/jpeg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ヒラギノ角ゴシック W3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ヒラギノ角ゴシック W6"/>
          <a:ea typeface="ヒラギノ角ゴシック W6"/>
          <a:cs typeface="ヒラギノ角ゴシック W6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ヒラギノ角ゴシック W6"/>
          <a:ea typeface="ヒラギノ角ゴシック W6"/>
          <a:cs typeface="ヒラギノ角ゴシック W6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ヒラギノ角ゴシック W3"/>
      </a:defRPr>
    </a:lvl1pPr>
    <a:lvl2pPr indent="228600" latinLnBrk="0">
      <a:defRPr sz="1200">
        <a:latin typeface="+mn-lt"/>
        <a:ea typeface="+mn-ea"/>
        <a:cs typeface="+mn-cs"/>
        <a:sym typeface="ヒラギノ角ゴシック W3"/>
      </a:defRPr>
    </a:lvl2pPr>
    <a:lvl3pPr indent="457200" latinLnBrk="0">
      <a:defRPr sz="1200">
        <a:latin typeface="+mn-lt"/>
        <a:ea typeface="+mn-ea"/>
        <a:cs typeface="+mn-cs"/>
        <a:sym typeface="ヒラギノ角ゴシック W3"/>
      </a:defRPr>
    </a:lvl3pPr>
    <a:lvl4pPr indent="685800" latinLnBrk="0">
      <a:defRPr sz="1200">
        <a:latin typeface="+mn-lt"/>
        <a:ea typeface="+mn-ea"/>
        <a:cs typeface="+mn-cs"/>
        <a:sym typeface="ヒラギノ角ゴシック W3"/>
      </a:defRPr>
    </a:lvl4pPr>
    <a:lvl5pPr indent="914400" latinLnBrk="0">
      <a:defRPr sz="1200">
        <a:latin typeface="+mn-lt"/>
        <a:ea typeface="+mn-ea"/>
        <a:cs typeface="+mn-cs"/>
        <a:sym typeface="ヒラギノ角ゴシック W3"/>
      </a:defRPr>
    </a:lvl5pPr>
    <a:lvl6pPr indent="1143000" latinLnBrk="0">
      <a:defRPr sz="1200">
        <a:latin typeface="+mn-lt"/>
        <a:ea typeface="+mn-ea"/>
        <a:cs typeface="+mn-cs"/>
        <a:sym typeface="ヒラギノ角ゴシック W3"/>
      </a:defRPr>
    </a:lvl6pPr>
    <a:lvl7pPr indent="1371600" latinLnBrk="0">
      <a:defRPr sz="1200">
        <a:latin typeface="+mn-lt"/>
        <a:ea typeface="+mn-ea"/>
        <a:cs typeface="+mn-cs"/>
        <a:sym typeface="ヒラギノ角ゴシック W3"/>
      </a:defRPr>
    </a:lvl7pPr>
    <a:lvl8pPr indent="1600200" latinLnBrk="0">
      <a:defRPr sz="1200">
        <a:latin typeface="+mn-lt"/>
        <a:ea typeface="+mn-ea"/>
        <a:cs typeface="+mn-cs"/>
        <a:sym typeface="ヒラギノ角ゴシック W3"/>
      </a:defRPr>
    </a:lvl8pPr>
    <a:lvl9pPr indent="1828800" latinLnBrk="0">
      <a:defRPr sz="1200">
        <a:latin typeface="+mn-lt"/>
        <a:ea typeface="+mn-ea"/>
        <a:cs typeface="+mn-cs"/>
        <a:sym typeface="ヒラギノ角ゴシック W3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" name="Shape 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老师好，我是齐恒，来自东华大学物理学院应用物理学专业。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我的介绍会围绕一条主线：学习基础、个人能力来源、</a:t>
            </a:r>
            <a:r>
              <a:t>AI Agent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与物理计算项目，以及我为什么希望在南科大继续训练。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6" name="Shape 5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我的平均绩点是 </a:t>
            </a:r>
            <a:r>
              <a:t>3.91/5.00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，均分 </a:t>
            </a:r>
            <a:r>
              <a:t>89.1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，专业排名 </a:t>
            </a:r>
            <a:r>
              <a:t>5/65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我会重点强调课程不是孤立分数，而是支撑我做计算模拟和可视化的基础。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" name="Shape 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我近半年密集使用 </a:t>
            </a:r>
            <a:r>
              <a:t>OpenClaw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、</a:t>
            </a:r>
            <a:r>
              <a:t>Codex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、</a:t>
            </a:r>
            <a:r>
              <a:t>Claude Code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我希望表达的重点不是我用了某个工具，而是我通过这些工具建立了一套从需求拆解到测试验证的工作流。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9" name="Shape 8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这里我只讲训练链条，不在 </a:t>
            </a:r>
            <a:r>
              <a:t>PPT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中堆公式细节。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如果老师有兴趣，我会在个人主页中展示氢原子轨道和偏振态两个可交互项目。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8" name="Shape 1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我来自河南县城，大学前视野有限。大一去西藏徒步之后，我开始主动走向更大的世界。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这些经历真正训练我的，是在信息不足和环境变化中规划、应变、复盘。科研同样需要这种能力。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8" name="Shape 12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这里建议用 </a:t>
            </a:r>
            <a:r>
              <a:t>20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到 </a:t>
            </a:r>
            <a:r>
              <a:t>30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秒展示网页。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打开主页后先指向项目入口，再打开氢原子轨道和电磁波偏振两个交互演示。手机端默认已经不再被控制面板挡住。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8" name="Shape 1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最后总结：我的优势不是已经有成熟科研成果，而是基础、规划能力、自驱探索和项目实现能力。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/>
            <a:r>
              <a:rPr>
                <a:latin typeface="+mj-lt"/>
                <a:ea typeface="+mj-ea"/>
                <a:cs typeface="+mj-cs"/>
                <a:sym typeface="Helvetica"/>
              </a:rPr>
              <a:t>研究生阶段我希望把这些探索变成更扎实、更规范、可复现的科研能力。谢谢各位老师。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ヒラギノ角ゴシック W3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ヒラギノ角ゴシック W3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5F7F9"/>
          </a:solidFill>
          <a:ln w="12700">
            <a:solidFill>
              <a:srgbClr val="F5F7F9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1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0" y="384047"/>
            <a:ext cx="5230368" cy="5897881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Shape 1"/>
          <p:cNvSpPr/>
          <p:nvPr/>
        </p:nvSpPr>
        <p:spPr>
          <a:xfrm>
            <a:off x="6013156" y="384048"/>
            <a:ext cx="6127009" cy="5897880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Shape 2"/>
          <p:cNvSpPr/>
          <p:nvPr/>
        </p:nvSpPr>
        <p:spPr>
          <a:xfrm>
            <a:off x="658368" y="676655"/>
            <a:ext cx="73153" cy="443484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" name="Text 3"/>
          <p:cNvSpPr txBox="1"/>
          <p:nvPr/>
        </p:nvSpPr>
        <p:spPr>
          <a:xfrm>
            <a:off x="960119" y="751332"/>
            <a:ext cx="4389122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80" sz="12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SUSTech Summer Camp Interview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932687" y="1298447"/>
            <a:ext cx="5138930" cy="1234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defTabSz="868680">
              <a:defRPr sz="2945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pPr>
            <a:r>
              <a:t>从物理学习出发，</a:t>
            </a:r>
          </a:p>
          <a:p>
            <a:pPr defTabSz="868680">
              <a:defRPr sz="2945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pPr>
            <a:r>
              <a:t>把问题做成可验证的系统</a:t>
            </a:r>
          </a:p>
        </p:txBody>
      </p:sp>
      <p:sp>
        <p:nvSpPr>
          <p:cNvPr id="26" name="Text 5"/>
          <p:cNvSpPr txBox="1"/>
          <p:nvPr/>
        </p:nvSpPr>
        <p:spPr>
          <a:xfrm>
            <a:off x="960119" y="2896108"/>
            <a:ext cx="4937762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4B5563"/>
                </a:solidFill>
              </a:defRPr>
            </a:lvl1pPr>
          </a:lstStyle>
          <a:p>
            <a:pPr/>
            <a:r>
              <a:t>自我介绍 · 南方科技大学优秀大学生夏令营</a:t>
            </a:r>
          </a:p>
        </p:txBody>
      </p:sp>
      <p:sp>
        <p:nvSpPr>
          <p:cNvPr id="27" name="Text 6"/>
          <p:cNvSpPr txBox="1"/>
          <p:nvPr/>
        </p:nvSpPr>
        <p:spPr>
          <a:xfrm>
            <a:off x="960119" y="3970019"/>
            <a:ext cx="1371601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2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齐恒</a:t>
            </a:r>
          </a:p>
        </p:txBody>
      </p:sp>
      <p:sp>
        <p:nvSpPr>
          <p:cNvPr id="28" name="Text 7"/>
          <p:cNvSpPr txBox="1"/>
          <p:nvPr/>
        </p:nvSpPr>
        <p:spPr>
          <a:xfrm>
            <a:off x="960119" y="4498847"/>
            <a:ext cx="493776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4B5563"/>
                </a:solidFill>
              </a:defRPr>
            </a:lvl1pPr>
          </a:lstStyle>
          <a:p>
            <a:pPr/>
            <a:r>
              <a:t>东华大学物理学院 · 应用物理学（新能源与微电子）</a:t>
            </a:r>
          </a:p>
        </p:txBody>
      </p:sp>
      <p:sp>
        <p:nvSpPr>
          <p:cNvPr id="29" name="Text 8"/>
          <p:cNvSpPr txBox="1"/>
          <p:nvPr/>
        </p:nvSpPr>
        <p:spPr>
          <a:xfrm>
            <a:off x="960119" y="4919471"/>
            <a:ext cx="4617722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GPA 3.91/5.00 · 专业排名 5/65 · CET-6 551</a:t>
            </a:r>
          </a:p>
        </p:txBody>
      </p:sp>
      <p:sp>
        <p:nvSpPr>
          <p:cNvPr id="30" name="Shape 9"/>
          <p:cNvSpPr/>
          <p:nvPr/>
        </p:nvSpPr>
        <p:spPr>
          <a:xfrm>
            <a:off x="10104119" y="4736591"/>
            <a:ext cx="1152145" cy="1152145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31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186416" y="4818888"/>
            <a:ext cx="987553" cy="98755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ext 10"/>
          <p:cNvSpPr txBox="1"/>
          <p:nvPr/>
        </p:nvSpPr>
        <p:spPr>
          <a:xfrm>
            <a:off x="9857231" y="6001004"/>
            <a:ext cx="1664208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4B5563"/>
                </a:solidFill>
              </a:defRPr>
            </a:lvl1pPr>
          </a:lstStyle>
          <a:p>
            <a:pPr/>
            <a:r>
              <a:t>个人主页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 txBox="1"/>
          <p:nvPr/>
        </p:nvSpPr>
        <p:spPr>
          <a:xfrm>
            <a:off x="658367" y="549147"/>
            <a:ext cx="4023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10" sz="10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01  ACADEMIC BASE</a:t>
            </a:r>
          </a:p>
        </p:txBody>
      </p:sp>
      <p:sp>
        <p:nvSpPr>
          <p:cNvPr id="37" name="Text 1"/>
          <p:cNvSpPr txBox="1"/>
          <p:nvPr/>
        </p:nvSpPr>
        <p:spPr>
          <a:xfrm>
            <a:off x="658367" y="868680"/>
            <a:ext cx="9692642" cy="56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30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学习情况：基础扎实，方向逐渐转向计算表达</a:t>
            </a:r>
          </a:p>
        </p:txBody>
      </p:sp>
      <p:sp>
        <p:nvSpPr>
          <p:cNvPr id="38" name="Text 2"/>
          <p:cNvSpPr txBox="1"/>
          <p:nvPr/>
        </p:nvSpPr>
        <p:spPr>
          <a:xfrm>
            <a:off x="676655" y="1609344"/>
            <a:ext cx="10241282" cy="310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用物理和数学基础支撑后续的建模、模拟和可视化。</a:t>
            </a:r>
          </a:p>
        </p:txBody>
      </p:sp>
      <p:sp>
        <p:nvSpPr>
          <p:cNvPr id="39" name="Shape 3"/>
          <p:cNvSpPr/>
          <p:nvPr/>
        </p:nvSpPr>
        <p:spPr>
          <a:xfrm>
            <a:off x="804672" y="2240279"/>
            <a:ext cx="2971801" cy="1261873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8890">
            <a:solidFill>
              <a:srgbClr val="E2E8F0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0" name="Text 4"/>
          <p:cNvSpPr txBox="1"/>
          <p:nvPr/>
        </p:nvSpPr>
        <p:spPr>
          <a:xfrm>
            <a:off x="1060703" y="2468879"/>
            <a:ext cx="1417321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2600">
                <a:solidFill>
                  <a:srgbClr val="0B6B5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3.91</a:t>
            </a:r>
          </a:p>
        </p:txBody>
      </p:sp>
      <p:sp>
        <p:nvSpPr>
          <p:cNvPr id="41" name="Text 5"/>
          <p:cNvSpPr txBox="1"/>
          <p:nvPr/>
        </p:nvSpPr>
        <p:spPr>
          <a:xfrm>
            <a:off x="1060703" y="3026664"/>
            <a:ext cx="2331721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4B5563"/>
                </a:solidFill>
              </a:defRPr>
            </a:lvl1pPr>
          </a:lstStyle>
          <a:p>
            <a:pPr/>
            <a:r>
              <a:t>GPA / 5.00</a:t>
            </a:r>
          </a:p>
        </p:txBody>
      </p:sp>
      <p:sp>
        <p:nvSpPr>
          <p:cNvPr id="42" name="Shape 6"/>
          <p:cNvSpPr/>
          <p:nvPr/>
        </p:nvSpPr>
        <p:spPr>
          <a:xfrm>
            <a:off x="4526279" y="2240279"/>
            <a:ext cx="2971801" cy="1261873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8890">
            <a:solidFill>
              <a:srgbClr val="E2E8F0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" name="Text 7"/>
          <p:cNvSpPr txBox="1"/>
          <p:nvPr/>
        </p:nvSpPr>
        <p:spPr>
          <a:xfrm>
            <a:off x="4782311" y="2468879"/>
            <a:ext cx="1417321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2600">
                <a:solidFill>
                  <a:srgbClr val="2563B8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5 / 65</a:t>
            </a:r>
          </a:p>
        </p:txBody>
      </p:sp>
      <p:sp>
        <p:nvSpPr>
          <p:cNvPr id="44" name="Text 8"/>
          <p:cNvSpPr txBox="1"/>
          <p:nvPr/>
        </p:nvSpPr>
        <p:spPr>
          <a:xfrm>
            <a:off x="4782311" y="3026664"/>
            <a:ext cx="233172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4B5563"/>
                </a:solidFill>
              </a:defRPr>
            </a:lvl1pPr>
          </a:lstStyle>
          <a:p>
            <a:pPr/>
            <a:r>
              <a:t>专业排名 · 前 7.7%</a:t>
            </a:r>
          </a:p>
        </p:txBody>
      </p:sp>
      <p:sp>
        <p:nvSpPr>
          <p:cNvPr id="45" name="Shape 9"/>
          <p:cNvSpPr/>
          <p:nvPr/>
        </p:nvSpPr>
        <p:spPr>
          <a:xfrm>
            <a:off x="8247888" y="2240279"/>
            <a:ext cx="2971801" cy="1261873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8890">
            <a:solidFill>
              <a:srgbClr val="E2E8F0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6" name="Text 10"/>
          <p:cNvSpPr txBox="1"/>
          <p:nvPr/>
        </p:nvSpPr>
        <p:spPr>
          <a:xfrm>
            <a:off x="8503919" y="2468879"/>
            <a:ext cx="1417321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2600">
                <a:solidFill>
                  <a:srgbClr val="D96C24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551</a:t>
            </a:r>
          </a:p>
        </p:txBody>
      </p:sp>
      <p:sp>
        <p:nvSpPr>
          <p:cNvPr id="47" name="Text 11"/>
          <p:cNvSpPr txBox="1"/>
          <p:nvPr/>
        </p:nvSpPr>
        <p:spPr>
          <a:xfrm>
            <a:off x="8503919" y="3026664"/>
            <a:ext cx="2331721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4B5563"/>
                </a:solidFill>
              </a:defRPr>
            </a:lvl1pPr>
          </a:lstStyle>
          <a:p>
            <a:pPr/>
            <a:r>
              <a:t>CET-6</a:t>
            </a:r>
          </a:p>
        </p:txBody>
      </p:sp>
      <p:sp>
        <p:nvSpPr>
          <p:cNvPr id="48" name="Text 12"/>
          <p:cNvSpPr txBox="1"/>
          <p:nvPr/>
        </p:nvSpPr>
        <p:spPr>
          <a:xfrm>
            <a:off x="822960" y="4331715"/>
            <a:ext cx="12801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核心课程：</a:t>
            </a:r>
          </a:p>
        </p:txBody>
      </p:sp>
      <p:sp>
        <p:nvSpPr>
          <p:cNvPr id="49" name="Text 13"/>
          <p:cNvSpPr txBox="1"/>
          <p:nvPr/>
        </p:nvSpPr>
        <p:spPr>
          <a:xfrm>
            <a:off x="1848771" y="4306823"/>
            <a:ext cx="9281160" cy="329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704087">
              <a:defRPr sz="1386">
                <a:solidFill>
                  <a:srgbClr val="111827"/>
                </a:solidFill>
              </a:defRPr>
            </a:lvl1pPr>
          </a:lstStyle>
          <a:p>
            <a:pPr/>
            <a:r>
              <a:t>经典力学 100 · 光学 99 · 数学物理方法 98 · 线性代数 95 · 偏微分方程 92 · 量子力学 91 · 电磁学 90 · 固体物理 91</a:t>
            </a:r>
          </a:p>
        </p:txBody>
      </p:sp>
      <p:sp>
        <p:nvSpPr>
          <p:cNvPr id="50" name="Text 14"/>
          <p:cNvSpPr txBox="1"/>
          <p:nvPr/>
        </p:nvSpPr>
        <p:spPr>
          <a:xfrm>
            <a:off x="822960" y="5066283"/>
            <a:ext cx="12801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能力底座：</a:t>
            </a:r>
          </a:p>
        </p:txBody>
      </p:sp>
      <p:sp>
        <p:nvSpPr>
          <p:cNvPr id="51" name="Text 15"/>
          <p:cNvSpPr txBox="1"/>
          <p:nvPr/>
        </p:nvSpPr>
        <p:spPr>
          <a:xfrm>
            <a:off x="1848770" y="5003291"/>
            <a:ext cx="8869682" cy="329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111827"/>
                </a:solidFill>
              </a:defRPr>
            </a:lvl1pPr>
          </a:lstStyle>
          <a:p>
            <a:pPr/>
            <a:r>
              <a:t>物理图像理解 + 数学推导 + Python / Matlab / TypeScript 工程实现</a:t>
            </a:r>
          </a:p>
        </p:txBody>
      </p:sp>
      <p:sp>
        <p:nvSpPr>
          <p:cNvPr id="52" name="Text 16"/>
          <p:cNvSpPr txBox="1"/>
          <p:nvPr/>
        </p:nvSpPr>
        <p:spPr>
          <a:xfrm>
            <a:off x="502919" y="6446266"/>
            <a:ext cx="658368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齐恒 · 东华大学物理学院 · 应用物理学（新能源与微电子）</a:t>
            </a:r>
          </a:p>
        </p:txBody>
      </p:sp>
      <p:sp>
        <p:nvSpPr>
          <p:cNvPr id="53" name="Text 17"/>
          <p:cNvSpPr txBox="1"/>
          <p:nvPr/>
        </p:nvSpPr>
        <p:spPr>
          <a:xfrm>
            <a:off x="10972799" y="6456172"/>
            <a:ext cx="731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02 / 07</a:t>
            </a:r>
          </a:p>
        </p:txBody>
      </p:sp>
      <p:sp>
        <p:nvSpPr>
          <p:cNvPr id="54" name="核心竞争力：擅长使用一些vibe coding工具，如codex，Claude code之类，具有较强的ai协作能力"/>
          <p:cNvSpPr txBox="1"/>
          <p:nvPr/>
        </p:nvSpPr>
        <p:spPr>
          <a:xfrm>
            <a:off x="790778" y="5660135"/>
            <a:ext cx="10314789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rPr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rPr>
              <a:t>核心竞争力</a:t>
            </a:r>
            <a:r>
              <a:t>：擅长使用一些vibe coding工具，如codex，Claude code之类，具有较强的ai协作能力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 txBox="1"/>
          <p:nvPr/>
        </p:nvSpPr>
        <p:spPr>
          <a:xfrm>
            <a:off x="658367" y="549147"/>
            <a:ext cx="4023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10" sz="10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02  AI AGENT PRACTICE</a:t>
            </a:r>
          </a:p>
        </p:txBody>
      </p:sp>
      <p:sp>
        <p:nvSpPr>
          <p:cNvPr id="59" name="Text 1"/>
          <p:cNvSpPr txBox="1"/>
          <p:nvPr/>
        </p:nvSpPr>
        <p:spPr>
          <a:xfrm>
            <a:off x="658367" y="868680"/>
            <a:ext cx="9692642" cy="56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30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近半年：我把 AI Agent 当成自我能力的放大器</a:t>
            </a:r>
          </a:p>
        </p:txBody>
      </p:sp>
      <p:sp>
        <p:nvSpPr>
          <p:cNvPr id="60" name="Text 2"/>
          <p:cNvSpPr txBox="1"/>
          <p:nvPr/>
        </p:nvSpPr>
        <p:spPr>
          <a:xfrm>
            <a:off x="676655" y="1609344"/>
            <a:ext cx="10241282" cy="310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从真实需求出发，快速形成原型、暴露错误、补齐知识并留下记录。</a:t>
            </a:r>
          </a:p>
        </p:txBody>
      </p:sp>
      <p:sp>
        <p:nvSpPr>
          <p:cNvPr id="61" name="Text 4"/>
          <p:cNvSpPr txBox="1"/>
          <p:nvPr/>
        </p:nvSpPr>
        <p:spPr>
          <a:xfrm>
            <a:off x="697665" y="2093976"/>
            <a:ext cx="3886201" cy="310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OpenClaw / memory_engine</a:t>
            </a:r>
          </a:p>
        </p:txBody>
      </p:sp>
      <p:sp>
        <p:nvSpPr>
          <p:cNvPr id="62" name="Text 5"/>
          <p:cNvSpPr txBox="1"/>
          <p:nvPr/>
        </p:nvSpPr>
        <p:spPr>
          <a:xfrm>
            <a:off x="697664" y="2551176"/>
            <a:ext cx="4434842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4B5563"/>
                </a:solidFill>
              </a:defRPr>
            </a:lvl1pPr>
          </a:lstStyle>
          <a:p>
            <a:pPr/>
            <a:r>
              <a:t>长期记忆、语义检索、记忆巩固与遗忘机制</a:t>
            </a:r>
          </a:p>
        </p:txBody>
      </p:sp>
      <p:sp>
        <p:nvSpPr>
          <p:cNvPr id="63" name="Shape 9"/>
          <p:cNvSpPr/>
          <p:nvPr/>
        </p:nvSpPr>
        <p:spPr>
          <a:xfrm>
            <a:off x="6446520" y="2331720"/>
            <a:ext cx="4343401" cy="2423161"/>
          </a:xfrm>
          <a:prstGeom prst="roundRect">
            <a:avLst>
              <a:gd name="adj" fmla="val 2264"/>
            </a:avLst>
          </a:prstGeom>
          <a:solidFill>
            <a:srgbClr val="111827"/>
          </a:solidFill>
          <a:ln w="8890">
            <a:solidFill>
              <a:srgbClr val="111827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4" name="Text 10"/>
          <p:cNvSpPr txBox="1"/>
          <p:nvPr/>
        </p:nvSpPr>
        <p:spPr>
          <a:xfrm>
            <a:off x="6903719" y="2720848"/>
            <a:ext cx="201168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FFFFFF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我的收获</a:t>
            </a:r>
          </a:p>
        </p:txBody>
      </p:sp>
      <p:sp>
        <p:nvSpPr>
          <p:cNvPr id="65" name="Text 11"/>
          <p:cNvSpPr txBox="1"/>
          <p:nvPr/>
        </p:nvSpPr>
        <p:spPr>
          <a:xfrm>
            <a:off x="6903719" y="3364991"/>
            <a:ext cx="3337560" cy="5852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740663">
              <a:defRPr sz="1458">
                <a:solidFill>
                  <a:srgbClr val="E5EEF8"/>
                </a:solidFill>
              </a:defRPr>
            </a:lvl1pPr>
          </a:lstStyle>
          <a:p>
            <a:pPr/>
            <a:r>
              <a:t>把一个模糊想法拆成需求、接口、测试、文档和迭代。</a:t>
            </a:r>
          </a:p>
        </p:txBody>
      </p:sp>
      <p:sp>
        <p:nvSpPr>
          <p:cNvPr id="66" name="Text 12"/>
          <p:cNvSpPr txBox="1"/>
          <p:nvPr/>
        </p:nvSpPr>
        <p:spPr>
          <a:xfrm>
            <a:off x="6903719" y="4187952"/>
            <a:ext cx="3429001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400">
                <a:solidFill>
                  <a:srgbClr val="B9C6D8"/>
                </a:solidFill>
              </a:defRPr>
            </a:lvl1pPr>
          </a:lstStyle>
          <a:p>
            <a:pPr/>
            <a:r>
              <a:t>这正是我希望带入科研训练的工作方式。</a:t>
            </a:r>
          </a:p>
        </p:txBody>
      </p:sp>
      <p:sp>
        <p:nvSpPr>
          <p:cNvPr id="67" name="Text 14"/>
          <p:cNvSpPr txBox="1"/>
          <p:nvPr/>
        </p:nvSpPr>
        <p:spPr>
          <a:xfrm>
            <a:off x="502919" y="6446266"/>
            <a:ext cx="658368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齐恒 · 东华大学物理学院 · 应用物理学（新能源与微电子）</a:t>
            </a:r>
          </a:p>
        </p:txBody>
      </p:sp>
      <p:sp>
        <p:nvSpPr>
          <p:cNvPr id="68" name="Text 15"/>
          <p:cNvSpPr txBox="1"/>
          <p:nvPr/>
        </p:nvSpPr>
        <p:spPr>
          <a:xfrm>
            <a:off x="10972800" y="6456171"/>
            <a:ext cx="731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03 / 07</a:t>
            </a:r>
          </a:p>
        </p:txBody>
      </p:sp>
      <p:sp>
        <p:nvSpPr>
          <p:cNvPr id="69" name="文本"/>
          <p:cNvSpPr txBox="1"/>
          <p:nvPr/>
        </p:nvSpPr>
        <p:spPr>
          <a:xfrm>
            <a:off x="684919" y="3063239"/>
            <a:ext cx="127001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</p:txBody>
      </p:sp>
      <p:sp>
        <p:nvSpPr>
          <p:cNvPr id="70" name="起因：大模型的单对话的上下文窗口太小导致…"/>
          <p:cNvSpPr txBox="1"/>
          <p:nvPr/>
        </p:nvSpPr>
        <p:spPr>
          <a:xfrm>
            <a:off x="710668" y="3063239"/>
            <a:ext cx="4294760" cy="720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/>
            </a:pPr>
            <a:r>
              <a:t>      起因：大模型的单对话的上下文窗口太小导致</a:t>
            </a:r>
          </a:p>
          <a:p>
            <a:pPr>
              <a:defRPr sz="1500"/>
            </a:pPr>
            <a:r>
              <a:t>的幻觉特别是重要信息遗忘。</a:t>
            </a:r>
          </a:p>
        </p:txBody>
      </p:sp>
      <p:sp>
        <p:nvSpPr>
          <p:cNvPr id="71" name="解决办法：记忆按重要性存储在本地，并且给…"/>
          <p:cNvSpPr txBox="1"/>
          <p:nvPr/>
        </p:nvSpPr>
        <p:spPr>
          <a:xfrm>
            <a:off x="710668" y="3817619"/>
            <a:ext cx="4295141" cy="10820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/>
            </a:pPr>
            <a:r>
              <a:t>      解决办法：记忆按重要性存储在本地，并且给</a:t>
            </a:r>
          </a:p>
          <a:p>
            <a:pPr>
              <a:defRPr sz="1500"/>
            </a:pPr>
            <a:r>
              <a:t>每个语义向量添加一个时间维度，同时按照重要性</a:t>
            </a:r>
          </a:p>
          <a:p>
            <a:pPr>
              <a:defRPr sz="1500"/>
            </a:pPr>
            <a:r>
              <a:t>赋予不同衰减初值，衰减速率。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 txBox="1"/>
          <p:nvPr/>
        </p:nvSpPr>
        <p:spPr>
          <a:xfrm>
            <a:off x="658367" y="549147"/>
            <a:ext cx="4023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10" sz="10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03  PHYSICS COMPUTING</a:t>
            </a:r>
          </a:p>
        </p:txBody>
      </p:sp>
      <p:sp>
        <p:nvSpPr>
          <p:cNvPr id="76" name="Shape 3"/>
          <p:cNvSpPr/>
          <p:nvPr/>
        </p:nvSpPr>
        <p:spPr>
          <a:xfrm>
            <a:off x="6521831" y="1662071"/>
            <a:ext cx="3154681" cy="1222281"/>
          </a:xfrm>
          <a:prstGeom prst="roundRect">
            <a:avLst>
              <a:gd name="adj" fmla="val 4489"/>
            </a:avLst>
          </a:prstGeom>
          <a:solidFill>
            <a:srgbClr val="F0F7F6"/>
          </a:solidFill>
          <a:ln w="8890">
            <a:solidFill>
              <a:srgbClr val="CDE7E2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7" name="Text 4"/>
          <p:cNvSpPr txBox="1"/>
          <p:nvPr/>
        </p:nvSpPr>
        <p:spPr>
          <a:xfrm>
            <a:off x="6788690" y="1735477"/>
            <a:ext cx="210312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氢原子轨道</a:t>
            </a:r>
          </a:p>
        </p:txBody>
      </p:sp>
      <p:sp>
        <p:nvSpPr>
          <p:cNvPr id="78" name="Text 5"/>
          <p:cNvSpPr txBox="1"/>
          <p:nvPr/>
        </p:nvSpPr>
        <p:spPr>
          <a:xfrm>
            <a:off x="6814439" y="2357777"/>
            <a:ext cx="2423161" cy="493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667512">
              <a:defRPr sz="1168">
                <a:solidFill>
                  <a:srgbClr val="4B5563"/>
                </a:solidFill>
              </a:defRPr>
            </a:lvl1pPr>
          </a:lstStyle>
          <a:p>
            <a:pPr/>
            <a:r>
              <a:t>|ψ|² → Monte Carlo 采样 → 电子云可视化</a:t>
            </a:r>
          </a:p>
        </p:txBody>
      </p:sp>
      <p:sp>
        <p:nvSpPr>
          <p:cNvPr id="79" name="Shape 6"/>
          <p:cNvSpPr/>
          <p:nvPr/>
        </p:nvSpPr>
        <p:spPr>
          <a:xfrm>
            <a:off x="6521831" y="3587176"/>
            <a:ext cx="3154681" cy="1222281"/>
          </a:xfrm>
          <a:prstGeom prst="roundRect">
            <a:avLst>
              <a:gd name="adj" fmla="val 4489"/>
            </a:avLst>
          </a:prstGeom>
          <a:solidFill>
            <a:srgbClr val="FFFFFF"/>
          </a:solidFill>
          <a:ln w="8890">
            <a:solidFill>
              <a:srgbClr val="E2E8F0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0" name="Text 7"/>
          <p:cNvSpPr txBox="1"/>
          <p:nvPr/>
        </p:nvSpPr>
        <p:spPr>
          <a:xfrm>
            <a:off x="6814439" y="3631050"/>
            <a:ext cx="210312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偏振态演示</a:t>
            </a:r>
          </a:p>
        </p:txBody>
      </p:sp>
      <p:sp>
        <p:nvSpPr>
          <p:cNvPr id="81" name="Text 8"/>
          <p:cNvSpPr txBox="1"/>
          <p:nvPr/>
        </p:nvSpPr>
        <p:spPr>
          <a:xfrm>
            <a:off x="6814439" y="4253350"/>
            <a:ext cx="2423161" cy="493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749808">
              <a:defRPr sz="1312">
                <a:solidFill>
                  <a:srgbClr val="4B5563"/>
                </a:solidFill>
              </a:defRPr>
            </a:lvl1pPr>
          </a:lstStyle>
          <a:p>
            <a:pPr/>
            <a:r>
              <a:t>Jones 向量、Malus 定律和 3D 传播图像</a:t>
            </a:r>
          </a:p>
        </p:txBody>
      </p:sp>
      <p:sp>
        <p:nvSpPr>
          <p:cNvPr id="82" name="Text 13"/>
          <p:cNvSpPr txBox="1"/>
          <p:nvPr/>
        </p:nvSpPr>
        <p:spPr>
          <a:xfrm>
            <a:off x="502919" y="6446266"/>
            <a:ext cx="658368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齐恒 · 东华大学物理学院 · 应用物理学（新能源与微电子）</a:t>
            </a:r>
          </a:p>
        </p:txBody>
      </p:sp>
      <p:sp>
        <p:nvSpPr>
          <p:cNvPr id="83" name="Text 14"/>
          <p:cNvSpPr txBox="1"/>
          <p:nvPr/>
        </p:nvSpPr>
        <p:spPr>
          <a:xfrm>
            <a:off x="10972799" y="6456172"/>
            <a:ext cx="731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04 / 07</a:t>
            </a:r>
          </a:p>
        </p:txBody>
      </p:sp>
      <p:sp>
        <p:nvSpPr>
          <p:cNvPr id="84" name="氢原子外电子轨道形状"/>
          <p:cNvSpPr txBox="1"/>
          <p:nvPr/>
        </p:nvSpPr>
        <p:spPr>
          <a:xfrm>
            <a:off x="968158" y="880872"/>
            <a:ext cx="2771141" cy="459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100"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氢原子外电子轨道形状</a:t>
            </a:r>
          </a:p>
        </p:txBody>
      </p:sp>
      <p:pic>
        <p:nvPicPr>
          <p:cNvPr id="85" name="已粘贴的影片.png" descr="已粘贴的影片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396310" y="1051398"/>
            <a:ext cx="2218604" cy="2256208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已粘贴的影片.png" descr="已粘贴的影片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96310" y="3412898"/>
            <a:ext cx="2218604" cy="1570837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1.初始想法：…"/>
          <p:cNvSpPr txBox="1"/>
          <p:nvPr/>
        </p:nvSpPr>
        <p:spPr>
          <a:xfrm>
            <a:off x="1019656" y="1545336"/>
            <a:ext cx="5112780" cy="29461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defRPr sz="1600">
                <a:latin typeface="標楷體-港澳"/>
                <a:ea typeface="標楷體-港澳"/>
                <a:cs typeface="標楷體-港澳"/>
                <a:sym typeface="標楷體-港澳"/>
              </a:defRPr>
            </a:pPr>
            <a:r>
              <a:t>1.初始想法：</a:t>
            </a:r>
          </a:p>
          <a:p>
            <a:pPr defTabSz="457200">
              <a:defRPr sz="13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     沿每个方向寻找∣ψ∣²最大点，连成轨道面</a:t>
            </a:r>
          </a:p>
          <a:p>
            <a:pPr defTabSz="457200">
              <a:defRPr sz="1600">
                <a:latin typeface="標楷體-港澳"/>
                <a:ea typeface="標楷體-港澳"/>
                <a:cs typeface="標楷體-港澳"/>
                <a:sym typeface="標楷體-港澳"/>
              </a:defRPr>
            </a:pPr>
            <a:r>
              <a:t>2.发现矛盾：</a:t>
            </a:r>
          </a:p>
          <a:p>
            <a:pPr defTabSz="457200">
              <a:defRPr sz="13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     </a:t>
            </a:r>
            <a:r>
              <a:t>1s 态局域概率密度最大在原子核附近，结果趋向球心</a:t>
            </a:r>
          </a:p>
          <a:p>
            <a:pPr defTabSz="457200">
              <a:defRPr sz="1600">
                <a:latin typeface="標楷體-港澳"/>
                <a:ea typeface="標楷體-港澳"/>
                <a:cs typeface="標楷體-港澳"/>
                <a:sym typeface="標楷體-港澳"/>
              </a:defRPr>
            </a:pPr>
            <a:r>
              <a:t>3.进一步修正：</a:t>
            </a:r>
          </a:p>
          <a:p>
            <a:pPr defTabSz="457200">
              <a:defRPr sz="13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     </a:t>
            </a:r>
            <a:r>
              <a:t>对角向积分得到径向概率分布：p(r)=r²∫∣ψ(r,θ,ϕ)∣²dΩ</a:t>
            </a:r>
          </a:p>
          <a:p>
            <a:pPr defTabSz="457200">
              <a:spcBef>
                <a:spcPts val="1200"/>
              </a:spcBef>
              <a:defRPr sz="13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4.</a:t>
            </a:r>
            <a:r>
              <a:rPr sz="1600">
                <a:latin typeface="標楷體-港澳"/>
                <a:ea typeface="標楷體-港澳"/>
                <a:cs typeface="標楷體-港澳"/>
                <a:sym typeface="標楷體-港澳"/>
              </a:rPr>
              <a:t>新的问题：</a:t>
            </a:r>
            <a:br/>
            <a:r>
              <a:t>     径向积分只给出最概然半径，结果是球壳，不能表示轨道形状</a:t>
            </a:r>
          </a:p>
          <a:p>
            <a:pPr defTabSz="457200">
              <a:spcBef>
                <a:spcPts val="1200"/>
              </a:spcBef>
              <a:defRPr sz="1600">
                <a:latin typeface="標楷體-港澳"/>
                <a:ea typeface="標楷體-港澳"/>
                <a:cs typeface="標楷體-港澳"/>
                <a:sym typeface="標楷體-港澳"/>
              </a:defRPr>
            </a:pPr>
            <a:r>
              <a:t>5.最终理解：</a:t>
            </a:r>
          </a:p>
          <a:p>
            <a:pPr defTabSz="457200">
              <a:spcBef>
                <a:spcPts val="1200"/>
              </a:spcBef>
              <a:defRPr sz="1300">
                <a:latin typeface="Heiti SC Light"/>
                <a:ea typeface="Heiti SC Light"/>
                <a:cs typeface="Heiti SC Light"/>
                <a:sym typeface="Heiti SC Light"/>
              </a:defRPr>
            </a:pPr>
            <a:r>
              <a:t>     </a:t>
            </a:r>
            <a:r>
              <a:t>轨道形状应由完整三维概率密度∣ψ(r,θ,ϕ)∣²或等概率密度面表示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 txBox="1"/>
          <p:nvPr/>
        </p:nvSpPr>
        <p:spPr>
          <a:xfrm>
            <a:off x="658367" y="549147"/>
            <a:ext cx="4023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10" sz="10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04  CAPABILITY SOURCE</a:t>
            </a:r>
          </a:p>
        </p:txBody>
      </p:sp>
      <p:sp>
        <p:nvSpPr>
          <p:cNvPr id="92" name="Text 1"/>
          <p:cNvSpPr txBox="1"/>
          <p:nvPr/>
        </p:nvSpPr>
        <p:spPr>
          <a:xfrm>
            <a:off x="658367" y="868680"/>
            <a:ext cx="9692642" cy="56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30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独立徒步训练了我在不确定性中推进问题</a:t>
            </a:r>
          </a:p>
        </p:txBody>
      </p:sp>
      <p:pic>
        <p:nvPicPr>
          <p:cNvPr id="93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49808" y="2148839"/>
            <a:ext cx="4251960" cy="3520442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3"/>
          <p:cNvSpPr/>
          <p:nvPr/>
        </p:nvSpPr>
        <p:spPr>
          <a:xfrm>
            <a:off x="749808" y="5074920"/>
            <a:ext cx="4251960" cy="594361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4"/>
          <p:cNvSpPr txBox="1"/>
          <p:nvPr/>
        </p:nvSpPr>
        <p:spPr>
          <a:xfrm>
            <a:off x="1005839" y="5266944"/>
            <a:ext cx="3749042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库拉岗日 · 熊野古道 · 虎跳峡 · 雨崩 · 麦理浩径</a:t>
            </a:r>
          </a:p>
        </p:txBody>
      </p:sp>
      <p:sp>
        <p:nvSpPr>
          <p:cNvPr id="96" name="Text 5"/>
          <p:cNvSpPr txBox="1"/>
          <p:nvPr/>
        </p:nvSpPr>
        <p:spPr>
          <a:xfrm>
            <a:off x="5623559" y="2403856"/>
            <a:ext cx="475488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B6B5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97" name="Text 6"/>
          <p:cNvSpPr txBox="1"/>
          <p:nvPr/>
        </p:nvSpPr>
        <p:spPr>
          <a:xfrm>
            <a:off x="6263640" y="2359151"/>
            <a:ext cx="3886201" cy="320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77823">
              <a:defRPr sz="1727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规划</a:t>
            </a:r>
          </a:p>
        </p:txBody>
      </p:sp>
      <p:sp>
        <p:nvSpPr>
          <p:cNvPr id="98" name="Text 7"/>
          <p:cNvSpPr txBox="1"/>
          <p:nvPr/>
        </p:nvSpPr>
        <p:spPr>
          <a:xfrm>
            <a:off x="6263640" y="2816351"/>
            <a:ext cx="4434841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路线、预算、装备、补给先做清楚</a:t>
            </a:r>
          </a:p>
        </p:txBody>
      </p:sp>
      <p:sp>
        <p:nvSpPr>
          <p:cNvPr id="99" name="Text 8"/>
          <p:cNvSpPr txBox="1"/>
          <p:nvPr/>
        </p:nvSpPr>
        <p:spPr>
          <a:xfrm>
            <a:off x="5623559" y="3610864"/>
            <a:ext cx="475488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563B8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00" name="Text 9"/>
          <p:cNvSpPr txBox="1"/>
          <p:nvPr/>
        </p:nvSpPr>
        <p:spPr>
          <a:xfrm>
            <a:off x="6263640" y="3566159"/>
            <a:ext cx="3886201" cy="320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77823">
              <a:defRPr sz="1727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应变</a:t>
            </a:r>
          </a:p>
        </p:txBody>
      </p:sp>
      <p:sp>
        <p:nvSpPr>
          <p:cNvPr id="101" name="Text 10"/>
          <p:cNvSpPr txBox="1"/>
          <p:nvPr/>
        </p:nvSpPr>
        <p:spPr>
          <a:xfrm>
            <a:off x="6263640" y="4023359"/>
            <a:ext cx="4434841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天气、路线偏差和设备问题都要现场处理</a:t>
            </a:r>
          </a:p>
        </p:txBody>
      </p:sp>
      <p:sp>
        <p:nvSpPr>
          <p:cNvPr id="102" name="Text 11"/>
          <p:cNvSpPr txBox="1"/>
          <p:nvPr/>
        </p:nvSpPr>
        <p:spPr>
          <a:xfrm>
            <a:off x="5623559" y="4817872"/>
            <a:ext cx="475488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D96C24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03" name="Text 12"/>
          <p:cNvSpPr txBox="1"/>
          <p:nvPr/>
        </p:nvSpPr>
        <p:spPr>
          <a:xfrm>
            <a:off x="6263640" y="4773167"/>
            <a:ext cx="3886201" cy="320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77823">
              <a:defRPr sz="1727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复盘</a:t>
            </a:r>
          </a:p>
        </p:txBody>
      </p:sp>
      <p:sp>
        <p:nvSpPr>
          <p:cNvPr id="104" name="Text 13"/>
          <p:cNvSpPr txBox="1"/>
          <p:nvPr/>
        </p:nvSpPr>
        <p:spPr>
          <a:xfrm>
            <a:off x="6263640" y="5230367"/>
            <a:ext cx="4434841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把经验转化成下一次更可靠的决策</a:t>
            </a:r>
          </a:p>
        </p:txBody>
      </p:sp>
      <p:sp>
        <p:nvSpPr>
          <p:cNvPr id="105" name="Text 15"/>
          <p:cNvSpPr txBox="1"/>
          <p:nvPr/>
        </p:nvSpPr>
        <p:spPr>
          <a:xfrm>
            <a:off x="502919" y="6446266"/>
            <a:ext cx="658368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齐恒 · 东华大学物理学院 · 应用物理学（新能源与微电子）</a:t>
            </a:r>
          </a:p>
        </p:txBody>
      </p:sp>
      <p:sp>
        <p:nvSpPr>
          <p:cNvPr id="106" name="Text 16"/>
          <p:cNvSpPr txBox="1"/>
          <p:nvPr/>
        </p:nvSpPr>
        <p:spPr>
          <a:xfrm>
            <a:off x="10972799" y="6456172"/>
            <a:ext cx="731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05 / 07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 txBox="1"/>
          <p:nvPr/>
        </p:nvSpPr>
        <p:spPr>
          <a:xfrm>
            <a:off x="658367" y="549147"/>
            <a:ext cx="4023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10" sz="10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05  PERSONAL HOMEPAGE</a:t>
            </a:r>
          </a:p>
        </p:txBody>
      </p:sp>
      <p:sp>
        <p:nvSpPr>
          <p:cNvPr id="111" name="Text 1"/>
          <p:cNvSpPr txBox="1"/>
          <p:nvPr/>
        </p:nvSpPr>
        <p:spPr>
          <a:xfrm>
            <a:off x="658367" y="868680"/>
            <a:ext cx="9692642" cy="56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3000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现场展示：我的项目证据集中在个人主页</a:t>
            </a:r>
          </a:p>
        </p:txBody>
      </p:sp>
      <p:sp>
        <p:nvSpPr>
          <p:cNvPr id="112" name="Shape 3"/>
          <p:cNvSpPr/>
          <p:nvPr/>
        </p:nvSpPr>
        <p:spPr>
          <a:xfrm>
            <a:off x="868680" y="2240279"/>
            <a:ext cx="2880361" cy="3063241"/>
          </a:xfrm>
          <a:prstGeom prst="roundRect">
            <a:avLst>
              <a:gd name="adj" fmla="val 1905"/>
            </a:avLst>
          </a:prstGeom>
          <a:solidFill>
            <a:srgbClr val="111827"/>
          </a:solidFill>
          <a:ln w="8890">
            <a:solidFill>
              <a:srgbClr val="111827"/>
            </a:solidFill>
          </a:ln>
          <a:effectLst>
            <a:outerShdw sx="100000" sy="100000" kx="0" ky="0" algn="b" rotWithShape="0" blurRad="12700" dist="12700" dir="2700000">
              <a:srgbClr val="000000">
                <a:alpha val="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3" name="Shape 4"/>
          <p:cNvSpPr/>
          <p:nvPr/>
        </p:nvSpPr>
        <p:spPr>
          <a:xfrm>
            <a:off x="1417319" y="2633472"/>
            <a:ext cx="1783081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14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563624" y="2779776"/>
            <a:ext cx="1490473" cy="1490473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Text 5"/>
          <p:cNvSpPr txBox="1"/>
          <p:nvPr/>
        </p:nvSpPr>
        <p:spPr>
          <a:xfrm>
            <a:off x="1133855" y="4645152"/>
            <a:ext cx="2331722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200">
                <a:solidFill>
                  <a:srgbClr val="E5EEF8"/>
                </a:solidFill>
              </a:defRPr>
            </a:lvl1pPr>
          </a:lstStyle>
          <a:p>
            <a:pPr/>
            <a:r>
              <a:t>hengqi61-maker.github.io</a:t>
            </a:r>
          </a:p>
        </p:txBody>
      </p:sp>
      <p:sp>
        <p:nvSpPr>
          <p:cNvPr id="116" name="Text 6"/>
          <p:cNvSpPr txBox="1"/>
          <p:nvPr/>
        </p:nvSpPr>
        <p:spPr>
          <a:xfrm>
            <a:off x="4663440" y="2376424"/>
            <a:ext cx="475488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B6B5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17" name="Text 7"/>
          <p:cNvSpPr txBox="1"/>
          <p:nvPr/>
        </p:nvSpPr>
        <p:spPr>
          <a:xfrm>
            <a:off x="5303520" y="2331720"/>
            <a:ext cx="3886201" cy="320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77823">
              <a:defRPr sz="1727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先看主页定位</a:t>
            </a:r>
          </a:p>
        </p:txBody>
      </p:sp>
      <p:sp>
        <p:nvSpPr>
          <p:cNvPr id="118" name="Text 8"/>
          <p:cNvSpPr txBox="1"/>
          <p:nvPr/>
        </p:nvSpPr>
        <p:spPr>
          <a:xfrm>
            <a:off x="5303519" y="2788920"/>
            <a:ext cx="4434842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研究兴趣、教育背景、项目入口</a:t>
            </a:r>
          </a:p>
        </p:txBody>
      </p:sp>
      <p:sp>
        <p:nvSpPr>
          <p:cNvPr id="119" name="Text 9"/>
          <p:cNvSpPr txBox="1"/>
          <p:nvPr/>
        </p:nvSpPr>
        <p:spPr>
          <a:xfrm>
            <a:off x="4663440" y="3519424"/>
            <a:ext cx="47548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563B8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20" name="Text 10"/>
          <p:cNvSpPr txBox="1"/>
          <p:nvPr/>
        </p:nvSpPr>
        <p:spPr>
          <a:xfrm>
            <a:off x="5303520" y="3474720"/>
            <a:ext cx="3886201" cy="310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再看交互演示</a:t>
            </a:r>
          </a:p>
        </p:txBody>
      </p:sp>
      <p:sp>
        <p:nvSpPr>
          <p:cNvPr id="121" name="Text 11"/>
          <p:cNvSpPr txBox="1"/>
          <p:nvPr/>
        </p:nvSpPr>
        <p:spPr>
          <a:xfrm>
            <a:off x="5303519" y="3931920"/>
            <a:ext cx="4434842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氢原子轨道、电磁波偏振</a:t>
            </a:r>
          </a:p>
        </p:txBody>
      </p:sp>
      <p:sp>
        <p:nvSpPr>
          <p:cNvPr id="122" name="Text 12"/>
          <p:cNvSpPr txBox="1"/>
          <p:nvPr/>
        </p:nvSpPr>
        <p:spPr>
          <a:xfrm>
            <a:off x="4663440" y="4662424"/>
            <a:ext cx="47548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D96C24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23" name="Text 13"/>
          <p:cNvSpPr txBox="1"/>
          <p:nvPr/>
        </p:nvSpPr>
        <p:spPr>
          <a:xfrm>
            <a:off x="5303520" y="4617720"/>
            <a:ext cx="3886201" cy="310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最后指向 GitHub</a:t>
            </a:r>
          </a:p>
        </p:txBody>
      </p:sp>
      <p:sp>
        <p:nvSpPr>
          <p:cNvPr id="124" name="Text 14"/>
          <p:cNvSpPr txBox="1"/>
          <p:nvPr/>
        </p:nvSpPr>
        <p:spPr>
          <a:xfrm>
            <a:off x="5303519" y="5074920"/>
            <a:ext cx="4434842" cy="420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500">
                <a:solidFill>
                  <a:srgbClr val="4B5563"/>
                </a:solidFill>
              </a:defRPr>
            </a:lvl1pPr>
          </a:lstStyle>
          <a:p>
            <a:pPr/>
            <a:r>
              <a:t>项目代码和 problem / method / evidence 结构</a:t>
            </a:r>
          </a:p>
        </p:txBody>
      </p:sp>
      <p:sp>
        <p:nvSpPr>
          <p:cNvPr id="125" name="Text 16"/>
          <p:cNvSpPr txBox="1"/>
          <p:nvPr/>
        </p:nvSpPr>
        <p:spPr>
          <a:xfrm>
            <a:off x="502919" y="6446266"/>
            <a:ext cx="658368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齐恒 · 东华大学物理学院 · 应用物理学（新能源与微电子）</a:t>
            </a:r>
          </a:p>
        </p:txBody>
      </p:sp>
      <p:sp>
        <p:nvSpPr>
          <p:cNvPr id="126" name="Text 17"/>
          <p:cNvSpPr txBox="1"/>
          <p:nvPr/>
        </p:nvSpPr>
        <p:spPr>
          <a:xfrm>
            <a:off x="10972799" y="6456172"/>
            <a:ext cx="731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7A8492"/>
                </a:solidFill>
              </a:defRPr>
            </a:lvl1pPr>
          </a:lstStyle>
          <a:p>
            <a:pPr/>
            <a:r>
              <a:t>06 / 07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>
              <a:alpha val="78000"/>
            </a:srgbClr>
          </a:solidFill>
          <a:ln w="12700">
            <a:solidFill>
              <a:srgbClr val="FFFFFF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1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FFFFFF">
              <a:alpha val="93000"/>
            </a:srgbClr>
          </a:solidFill>
          <a:ln w="12700">
            <a:solidFill>
              <a:srgbClr val="FFFFFF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Text 2"/>
          <p:cNvSpPr txBox="1"/>
          <p:nvPr/>
        </p:nvSpPr>
        <p:spPr>
          <a:xfrm>
            <a:off x="822960" y="960119"/>
            <a:ext cx="5029201" cy="1234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defTabSz="832104">
              <a:defRPr sz="2639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pPr>
            <a:r>
              <a:t>我希望把探索未知的习惯，</a:t>
            </a:r>
          </a:p>
          <a:p>
            <a:pPr defTabSz="832104">
              <a:defRPr sz="2639"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pPr>
            <a:r>
              <a:t>转化为扎实、可复现的科研能力。</a:t>
            </a:r>
          </a:p>
        </p:txBody>
      </p:sp>
      <p:sp>
        <p:nvSpPr>
          <p:cNvPr id="134" name="Text 3"/>
          <p:cNvSpPr txBox="1"/>
          <p:nvPr/>
        </p:nvSpPr>
        <p:spPr>
          <a:xfrm>
            <a:off x="859536" y="3063239"/>
            <a:ext cx="4754880" cy="310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700">
                <a:solidFill>
                  <a:srgbClr val="128C7E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学习基础 · 规划应变 · AI Agent · 物理计算</a:t>
            </a:r>
          </a:p>
        </p:txBody>
      </p:sp>
      <p:sp>
        <p:nvSpPr>
          <p:cNvPr id="135" name="Text 4"/>
          <p:cNvSpPr txBox="1"/>
          <p:nvPr/>
        </p:nvSpPr>
        <p:spPr>
          <a:xfrm>
            <a:off x="859535" y="5153913"/>
            <a:ext cx="420624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111827"/>
                </a:solidFill>
                <a:latin typeface="ヒラギノ角ゴシック W6"/>
                <a:ea typeface="ヒラギノ角ゴシック W6"/>
                <a:cs typeface="ヒラギノ角ゴシック W6"/>
                <a:sym typeface="ヒラギノ角ゴシック W6"/>
              </a:defRPr>
            </a:lvl1pPr>
          </a:lstStyle>
          <a:p>
            <a:pPr/>
            <a:r>
              <a:t>感谢各位老师，期待进一步交流。</a:t>
            </a:r>
          </a:p>
        </p:txBody>
      </p:sp>
      <p:sp>
        <p:nvSpPr>
          <p:cNvPr id="136" name="Text 5"/>
          <p:cNvSpPr txBox="1"/>
          <p:nvPr/>
        </p:nvSpPr>
        <p:spPr>
          <a:xfrm>
            <a:off x="859536" y="5650991"/>
            <a:ext cx="475488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4B5563"/>
                </a:solidFill>
              </a:defRPr>
            </a:lvl1pPr>
          </a:lstStyle>
          <a:p>
            <a:pPr/>
            <a:r>
              <a:t>hengqi61@gmail.com · github.com/hengqi61-maker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ヒラギノ角ゴシック W3"/>
        <a:ea typeface="ヒラギノ角ゴシック W3"/>
        <a:cs typeface="ヒラギノ角ゴシック W3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ヒラギノ角ゴシック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ヒラギノ角ゴシック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ヒラギノ角ゴシック W3"/>
        <a:ea typeface="ヒラギノ角ゴシック W3"/>
        <a:cs typeface="ヒラギノ角ゴシック W3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ヒラギノ角ゴシック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ヒラギノ角ゴシック W3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