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1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标题文本</a:t>
            </a:r>
          </a:p>
        </p:txBody>
      </p:sp>
      <p:sp>
        <p:nvSpPr>
          <p:cNvPr id="30" name="正文级别 1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39" name="正文级别 1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48" name="正文级别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5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标题文本</a:t>
            </a:r>
          </a:p>
        </p:txBody>
      </p:sp>
      <p:sp>
        <p:nvSpPr>
          <p:cNvPr id="73" name="正文级别 1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标题文本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正文级别 1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599432"/>
            <a:ext cx="12192000" cy="2258568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Rounded Rectangle 2"/>
          <p:cNvSpPr/>
          <p:nvPr/>
        </p:nvSpPr>
        <p:spPr>
          <a:xfrm>
            <a:off x="8101583" y="658368"/>
            <a:ext cx="3419856" cy="537667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8E3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96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13647" y="987552"/>
            <a:ext cx="2395730" cy="239572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Box 4"/>
          <p:cNvSpPr txBox="1"/>
          <p:nvPr/>
        </p:nvSpPr>
        <p:spPr>
          <a:xfrm>
            <a:off x="8403335" y="3639310"/>
            <a:ext cx="2798066" cy="437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ctr">
              <a:lnSpc>
                <a:spcPct val="108000"/>
              </a:lnSpc>
              <a:defRPr b="1" sz="2400">
                <a:solidFill>
                  <a:srgbClr val="121B27"/>
                </a:solidFill>
              </a:defRPr>
            </a:lvl1pPr>
          </a:lstStyle>
          <a:p>
            <a:pPr/>
            <a:r>
              <a:t>齐恒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8385047" y="4105654"/>
            <a:ext cx="2816354" cy="388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/>
          <a:p>
            <a:pPr algn="ctr">
              <a:lnSpc>
                <a:spcPct val="108000"/>
              </a:lnSpc>
              <a:defRPr sz="1000">
                <a:solidFill>
                  <a:srgbClr val="2A3440"/>
                </a:solidFill>
              </a:defRPr>
            </a:pPr>
            <a:r>
              <a:t>东华大学物理学院</a:t>
            </a:r>
          </a:p>
          <a:p>
            <a:pPr algn="ctr">
              <a:lnSpc>
                <a:spcPct val="108000"/>
              </a:lnSpc>
              <a:defRPr sz="1000">
                <a:solidFill>
                  <a:srgbClr val="2A3440"/>
                </a:solidFill>
              </a:defRPr>
            </a:pPr>
            <a:r>
              <a:t>应用物理学（新能源与微电子）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10570463" y="877824"/>
            <a:ext cx="420626" cy="14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ctr">
              <a:lnSpc>
                <a:spcPct val="108000"/>
              </a:lnSpc>
              <a:defRPr sz="1000">
                <a:solidFill>
                  <a:srgbClr val="127584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A5</a:t>
            </a:r>
          </a:p>
        </p:txBody>
      </p:sp>
      <p:sp>
        <p:nvSpPr>
          <p:cNvPr id="100" name="Rounded Rectangle 7"/>
          <p:cNvSpPr/>
          <p:nvPr/>
        </p:nvSpPr>
        <p:spPr>
          <a:xfrm>
            <a:off x="8321040" y="4791454"/>
            <a:ext cx="1508762" cy="310898"/>
          </a:xfrm>
          <a:prstGeom prst="roundRect">
            <a:avLst>
              <a:gd name="adj" fmla="val 16667"/>
            </a:avLst>
          </a:prstGeom>
          <a:solidFill>
            <a:srgbClr val="EEF7F8"/>
          </a:solidFill>
          <a:ln w="10160">
            <a:solidFill>
              <a:srgbClr val="12758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1" name="TextBox 8"/>
          <p:cNvSpPr txBox="1"/>
          <p:nvPr/>
        </p:nvSpPr>
        <p:spPr>
          <a:xfrm>
            <a:off x="8403335" y="4873752"/>
            <a:ext cx="1344170" cy="183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ctr">
              <a:lnSpc>
                <a:spcPct val="108000"/>
              </a:lnSpc>
              <a:defRPr sz="900">
                <a:solidFill>
                  <a:srgbClr val="127584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GPA 3.91/5.00</a:t>
            </a:r>
          </a:p>
        </p:txBody>
      </p:sp>
      <p:sp>
        <p:nvSpPr>
          <p:cNvPr id="102" name="Rounded Rectangle 9"/>
          <p:cNvSpPr/>
          <p:nvPr/>
        </p:nvSpPr>
        <p:spPr>
          <a:xfrm>
            <a:off x="9976104" y="4791454"/>
            <a:ext cx="1225298" cy="310898"/>
          </a:xfrm>
          <a:prstGeom prst="roundRect">
            <a:avLst>
              <a:gd name="adj" fmla="val 16667"/>
            </a:avLst>
          </a:prstGeom>
          <a:solidFill>
            <a:srgbClr val="EEF6F0"/>
          </a:solidFill>
          <a:ln w="10160">
            <a:solidFill>
              <a:srgbClr val="4F805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3" name="TextBox 10"/>
          <p:cNvSpPr txBox="1"/>
          <p:nvPr/>
        </p:nvSpPr>
        <p:spPr>
          <a:xfrm>
            <a:off x="10058399" y="4873752"/>
            <a:ext cx="1060707" cy="183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ctr">
              <a:lnSpc>
                <a:spcPct val="108000"/>
              </a:lnSpc>
              <a:defRPr sz="900">
                <a:solidFill>
                  <a:srgbClr val="4F805E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Rank 5/65</a:t>
            </a:r>
          </a:p>
        </p:txBody>
      </p:sp>
      <p:sp>
        <p:nvSpPr>
          <p:cNvPr id="104" name="Rounded Rectangle 11"/>
          <p:cNvSpPr/>
          <p:nvPr/>
        </p:nvSpPr>
        <p:spPr>
          <a:xfrm>
            <a:off x="8412480" y="5266944"/>
            <a:ext cx="804674" cy="804673"/>
          </a:xfrm>
          <a:prstGeom prst="roundRect">
            <a:avLst>
              <a:gd name="adj" fmla="val 16667"/>
            </a:avLst>
          </a:prstGeom>
          <a:solidFill>
            <a:srgbClr val="EFF7F8"/>
          </a:solidFill>
          <a:ln w="8890">
            <a:solidFill>
              <a:srgbClr val="C8DD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105" name="Picture 12" descr="Picture 1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467342" y="5321806"/>
            <a:ext cx="694946" cy="694946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TextBox 13"/>
          <p:cNvSpPr txBox="1"/>
          <p:nvPr/>
        </p:nvSpPr>
        <p:spPr>
          <a:xfrm>
            <a:off x="8330183" y="6126479"/>
            <a:ext cx="987553" cy="157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ctr">
              <a:lnSpc>
                <a:spcPct val="108000"/>
              </a:lnSpc>
              <a:defRPr b="1" sz="800">
                <a:solidFill>
                  <a:srgbClr val="127584"/>
                </a:solidFill>
              </a:defRPr>
            </a:lvl1pPr>
          </a:lstStyle>
          <a:p>
            <a:pPr/>
            <a:r>
              <a:t>扫码看个人主页</a:t>
            </a:r>
          </a:p>
        </p:txBody>
      </p:sp>
      <p:sp>
        <p:nvSpPr>
          <p:cNvPr id="107" name="TextBox 14"/>
          <p:cNvSpPr txBox="1"/>
          <p:nvPr/>
        </p:nvSpPr>
        <p:spPr>
          <a:xfrm>
            <a:off x="9317735" y="5422391"/>
            <a:ext cx="171907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800">
                <a:solidFill>
                  <a:srgbClr val="127584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hengqi61-maker.github.io</a:t>
            </a:r>
          </a:p>
        </p:txBody>
      </p:sp>
      <p:sp>
        <p:nvSpPr>
          <p:cNvPr id="108" name="TextBox 15"/>
          <p:cNvSpPr txBox="1"/>
          <p:nvPr/>
        </p:nvSpPr>
        <p:spPr>
          <a:xfrm>
            <a:off x="9317735" y="5678423"/>
            <a:ext cx="1682497" cy="157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/>
          <a:p>
            <a:pPr>
              <a:lnSpc>
                <a:spcPct val="108000"/>
              </a:lnSpc>
              <a:defRPr sz="800">
                <a:solidFill>
                  <a:srgbClr val="606C7A"/>
                </a:solidFill>
              </a:defRPr>
            </a:pPr>
            <a:r>
              <a:t>项目入口 </a:t>
            </a:r>
            <a:r>
              <a:rPr>
                <a:latin typeface="PingFang SC Regular"/>
                <a:ea typeface="PingFang SC Regular"/>
                <a:cs typeface="PingFang SC Regular"/>
                <a:sym typeface="PingFang SC Regular"/>
              </a:rPr>
              <a:t>· </a:t>
            </a:r>
            <a:r>
              <a:t>个人经历 </a:t>
            </a:r>
            <a:r>
              <a:rPr>
                <a:latin typeface="PingFang SC Regular"/>
                <a:ea typeface="PingFang SC Regular"/>
                <a:cs typeface="PingFang SC Regular"/>
                <a:sym typeface="PingFang SC Regular"/>
              </a:rPr>
              <a:t>· GitHub</a:t>
            </a:r>
          </a:p>
        </p:txBody>
      </p:sp>
      <p:sp>
        <p:nvSpPr>
          <p:cNvPr id="109" name="Rectangle 16"/>
          <p:cNvSpPr/>
          <p:nvPr/>
        </p:nvSpPr>
        <p:spPr>
          <a:xfrm>
            <a:off x="566927" y="393190"/>
            <a:ext cx="82298" cy="228602"/>
          </a:xfrm>
          <a:prstGeom prst="rect">
            <a:avLst/>
          </a:prstGeom>
          <a:solidFill>
            <a:srgbClr val="12758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0" name="TextBox 17"/>
          <p:cNvSpPr txBox="1"/>
          <p:nvPr/>
        </p:nvSpPr>
        <p:spPr>
          <a:xfrm>
            <a:off x="722375" y="347472"/>
            <a:ext cx="263347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800">
                <a:solidFill>
                  <a:srgbClr val="606C7A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WESTLAKE SCIENCE SUMMER CAMP</a:t>
            </a:r>
          </a:p>
        </p:txBody>
      </p:sp>
      <p:sp>
        <p:nvSpPr>
          <p:cNvPr id="111" name="TextBox 18"/>
          <p:cNvSpPr txBox="1"/>
          <p:nvPr/>
        </p:nvSpPr>
        <p:spPr>
          <a:xfrm>
            <a:off x="10479023" y="347472"/>
            <a:ext cx="1152146" cy="183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r">
              <a:lnSpc>
                <a:spcPct val="108000"/>
              </a:lnSpc>
              <a:defRPr sz="900">
                <a:solidFill>
                  <a:srgbClr val="606C7A"/>
                </a:solidFill>
              </a:defRPr>
            </a:lvl1pPr>
          </a:lstStyle>
          <a:p>
            <a:pPr/>
            <a:r>
              <a:t>个人成果汇报</a:t>
            </a:r>
          </a:p>
        </p:txBody>
      </p:sp>
      <p:sp>
        <p:nvSpPr>
          <p:cNvPr id="112" name="TextBox 20"/>
          <p:cNvSpPr txBox="1"/>
          <p:nvPr/>
        </p:nvSpPr>
        <p:spPr>
          <a:xfrm>
            <a:off x="576070" y="1481328"/>
            <a:ext cx="6473956" cy="1267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/>
          <a:p>
            <a:pPr>
              <a:lnSpc>
                <a:spcPct val="104999"/>
              </a:lnSpc>
              <a:defRPr b="1" sz="3400">
                <a:solidFill>
                  <a:srgbClr val="121B27"/>
                </a:solidFill>
              </a:defRPr>
            </a:pPr>
            <a:r>
              <a:t>从物理问题到</a:t>
            </a:r>
          </a:p>
          <a:p>
            <a:pPr>
              <a:lnSpc>
                <a:spcPct val="104999"/>
              </a:lnSpc>
              <a:defRPr b="1" sz="3400">
                <a:solidFill>
                  <a:srgbClr val="127584"/>
                </a:solidFill>
              </a:defRPr>
            </a:pPr>
            <a:r>
              <a:t>可复现计算系统</a:t>
            </a:r>
          </a:p>
        </p:txBody>
      </p:sp>
      <p:sp>
        <p:nvSpPr>
          <p:cNvPr id="113" name="TextBox 21"/>
          <p:cNvSpPr txBox="1"/>
          <p:nvPr/>
        </p:nvSpPr>
        <p:spPr>
          <a:xfrm>
            <a:off x="612646" y="3246120"/>
            <a:ext cx="4645156" cy="272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1400">
                <a:solidFill>
                  <a:srgbClr val="2A3440"/>
                </a:solidFill>
              </a:defRPr>
            </a:lvl1pPr>
          </a:lstStyle>
          <a:p>
            <a:pPr/>
            <a:r>
              <a:t>个人学术背景与博士阶段科研计划</a:t>
            </a:r>
          </a:p>
        </p:txBody>
      </p:sp>
      <p:sp>
        <p:nvSpPr>
          <p:cNvPr id="114" name="Rounded Rectangle 22"/>
          <p:cNvSpPr/>
          <p:nvPr/>
        </p:nvSpPr>
        <p:spPr>
          <a:xfrm>
            <a:off x="621791" y="3858767"/>
            <a:ext cx="6181346" cy="530354"/>
          </a:xfrm>
          <a:prstGeom prst="roundRect">
            <a:avLst>
              <a:gd name="adj" fmla="val 16667"/>
            </a:avLst>
          </a:prstGeom>
          <a:solidFill>
            <a:srgbClr val="EDF5F5"/>
          </a:solidFill>
          <a:ln w="8890">
            <a:solidFill>
              <a:srgbClr val="C9DCD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5" name="TextBox 23"/>
          <p:cNvSpPr txBox="1"/>
          <p:nvPr/>
        </p:nvSpPr>
        <p:spPr>
          <a:xfrm>
            <a:off x="859534" y="4041647"/>
            <a:ext cx="5696715" cy="221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/>
          <a:p>
            <a:pPr>
              <a:lnSpc>
                <a:spcPct val="108000"/>
              </a:lnSpc>
              <a:defRPr b="1" sz="1100">
                <a:solidFill>
                  <a:srgbClr val="127584"/>
                </a:solidFill>
              </a:defRPr>
            </a:pPr>
            <a:r>
              <a:t>主线：物理模型理解  </a:t>
            </a:r>
            <a:r>
              <a:rPr b="0">
                <a:latin typeface="PingFang SC Semibold"/>
                <a:ea typeface="PingFang SC Semibold"/>
                <a:cs typeface="PingFang SC Semibold"/>
                <a:sym typeface="PingFang SC Semibold"/>
              </a:rPr>
              <a:t>-&gt;  </a:t>
            </a:r>
            <a:r>
              <a:t>数值模拟与可视化  </a:t>
            </a:r>
            <a:r>
              <a:rPr b="0">
                <a:latin typeface="PingFang SC Semibold"/>
                <a:ea typeface="PingFang SC Semibold"/>
                <a:cs typeface="PingFang SC Semibold"/>
                <a:sym typeface="PingFang SC Semibold"/>
              </a:rPr>
              <a:t>-&gt;  AI for Science </a:t>
            </a:r>
            <a:r>
              <a:t>工作流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566927" y="393190"/>
            <a:ext cx="82298" cy="228602"/>
          </a:xfrm>
          <a:prstGeom prst="rect">
            <a:avLst/>
          </a:prstGeom>
          <a:solidFill>
            <a:srgbClr val="12758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8" name="TextBox 2"/>
          <p:cNvSpPr txBox="1"/>
          <p:nvPr/>
        </p:nvSpPr>
        <p:spPr>
          <a:xfrm>
            <a:off x="722375" y="347472"/>
            <a:ext cx="263347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800">
                <a:solidFill>
                  <a:srgbClr val="606C7A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ACADEMIC BASE</a:t>
            </a:r>
          </a:p>
        </p:txBody>
      </p:sp>
      <p:sp>
        <p:nvSpPr>
          <p:cNvPr id="119" name="TextBox 3"/>
          <p:cNvSpPr txBox="1"/>
          <p:nvPr/>
        </p:nvSpPr>
        <p:spPr>
          <a:xfrm>
            <a:off x="10479023" y="347472"/>
            <a:ext cx="1152146" cy="183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r">
              <a:lnSpc>
                <a:spcPct val="108000"/>
              </a:lnSpc>
              <a:defRPr sz="900">
                <a:solidFill>
                  <a:srgbClr val="606C7A"/>
                </a:solidFill>
              </a:defRPr>
            </a:lvl1pPr>
          </a:lstStyle>
          <a:p>
            <a:pPr/>
            <a:r>
              <a:t>学术背景</a:t>
            </a:r>
          </a:p>
        </p:txBody>
      </p:sp>
      <p:sp>
        <p:nvSpPr>
          <p:cNvPr id="120" name="TextBox 4"/>
          <p:cNvSpPr txBox="1"/>
          <p:nvPr/>
        </p:nvSpPr>
        <p:spPr>
          <a:xfrm>
            <a:off x="576071" y="768095"/>
            <a:ext cx="8759954" cy="475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2500">
                <a:solidFill>
                  <a:srgbClr val="121B27"/>
                </a:solidFill>
              </a:defRPr>
            </a:lvl1pPr>
          </a:lstStyle>
          <a:p>
            <a:pPr/>
            <a:r>
              <a:t>物理与数学课程构成后续计算训练的底座</a:t>
            </a:r>
          </a:p>
        </p:txBody>
      </p:sp>
      <p:sp>
        <p:nvSpPr>
          <p:cNvPr id="121" name="Rounded Rectangle 6"/>
          <p:cNvSpPr/>
          <p:nvPr/>
        </p:nvSpPr>
        <p:spPr>
          <a:xfrm>
            <a:off x="658368" y="1874517"/>
            <a:ext cx="1572768" cy="8412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5E2E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2" name="TextBox 7"/>
          <p:cNvSpPr txBox="1"/>
          <p:nvPr/>
        </p:nvSpPr>
        <p:spPr>
          <a:xfrm>
            <a:off x="813814" y="1993389"/>
            <a:ext cx="1261875" cy="289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2100">
                <a:solidFill>
                  <a:srgbClr val="127584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3.91</a:t>
            </a:r>
          </a:p>
        </p:txBody>
      </p:sp>
      <p:sp>
        <p:nvSpPr>
          <p:cNvPr id="123" name="TextBox 8"/>
          <p:cNvSpPr txBox="1"/>
          <p:nvPr/>
        </p:nvSpPr>
        <p:spPr>
          <a:xfrm>
            <a:off x="813814" y="2359150"/>
            <a:ext cx="1261875" cy="157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800">
                <a:solidFill>
                  <a:srgbClr val="606C7A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pPr/>
            <a:r>
              <a:t>GPA / 5.00</a:t>
            </a:r>
          </a:p>
        </p:txBody>
      </p:sp>
      <p:sp>
        <p:nvSpPr>
          <p:cNvPr id="124" name="Rounded Rectangle 9"/>
          <p:cNvSpPr/>
          <p:nvPr/>
        </p:nvSpPr>
        <p:spPr>
          <a:xfrm>
            <a:off x="2432304" y="1874517"/>
            <a:ext cx="1572770" cy="8412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5E2E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5" name="TextBox 10"/>
          <p:cNvSpPr txBox="1"/>
          <p:nvPr/>
        </p:nvSpPr>
        <p:spPr>
          <a:xfrm>
            <a:off x="2587750" y="1993389"/>
            <a:ext cx="1261874" cy="289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2100">
                <a:solidFill>
                  <a:srgbClr val="4F805E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89.1</a:t>
            </a:r>
          </a:p>
        </p:txBody>
      </p:sp>
      <p:sp>
        <p:nvSpPr>
          <p:cNvPr id="126" name="TextBox 11"/>
          <p:cNvSpPr txBox="1"/>
          <p:nvPr/>
        </p:nvSpPr>
        <p:spPr>
          <a:xfrm>
            <a:off x="2587750" y="2359150"/>
            <a:ext cx="1261874" cy="157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800">
                <a:solidFill>
                  <a:srgbClr val="606C7A"/>
                </a:solidFill>
              </a:defRPr>
            </a:lvl1pPr>
          </a:lstStyle>
          <a:p>
            <a:pPr/>
            <a:r>
              <a:t>百分制均分</a:t>
            </a:r>
          </a:p>
        </p:txBody>
      </p:sp>
      <p:sp>
        <p:nvSpPr>
          <p:cNvPr id="127" name="Rounded Rectangle 12"/>
          <p:cNvSpPr/>
          <p:nvPr/>
        </p:nvSpPr>
        <p:spPr>
          <a:xfrm>
            <a:off x="4206240" y="1874517"/>
            <a:ext cx="1755650" cy="8412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5E2E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8" name="TextBox 13"/>
          <p:cNvSpPr txBox="1"/>
          <p:nvPr/>
        </p:nvSpPr>
        <p:spPr>
          <a:xfrm>
            <a:off x="4361688" y="1993389"/>
            <a:ext cx="1444753" cy="289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2100">
                <a:solidFill>
                  <a:srgbClr val="C48436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5 / 65</a:t>
            </a:r>
          </a:p>
        </p:txBody>
      </p:sp>
      <p:sp>
        <p:nvSpPr>
          <p:cNvPr id="129" name="TextBox 14"/>
          <p:cNvSpPr txBox="1"/>
          <p:nvPr/>
        </p:nvSpPr>
        <p:spPr>
          <a:xfrm>
            <a:off x="4361688" y="2359150"/>
            <a:ext cx="1444753" cy="157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/>
          <a:p>
            <a:pPr>
              <a:lnSpc>
                <a:spcPct val="108000"/>
              </a:lnSpc>
              <a:defRPr sz="800">
                <a:solidFill>
                  <a:srgbClr val="606C7A"/>
                </a:solidFill>
              </a:defRPr>
            </a:pPr>
            <a:r>
              <a:t>专业排名 </a:t>
            </a:r>
            <a:r>
              <a:rPr>
                <a:latin typeface="PingFang SC Regular"/>
                <a:ea typeface="PingFang SC Regular"/>
                <a:cs typeface="PingFang SC Regular"/>
                <a:sym typeface="PingFang SC Regular"/>
              </a:rPr>
              <a:t>· </a:t>
            </a:r>
            <a:r>
              <a:t>前 </a:t>
            </a:r>
            <a:r>
              <a:rPr>
                <a:latin typeface="PingFang SC Regular"/>
                <a:ea typeface="PingFang SC Regular"/>
                <a:cs typeface="PingFang SC Regular"/>
                <a:sym typeface="PingFang SC Regular"/>
              </a:rPr>
              <a:t>7.7%</a:t>
            </a:r>
          </a:p>
        </p:txBody>
      </p:sp>
      <p:sp>
        <p:nvSpPr>
          <p:cNvPr id="130" name="Rounded Rectangle 15"/>
          <p:cNvSpPr/>
          <p:nvPr/>
        </p:nvSpPr>
        <p:spPr>
          <a:xfrm>
            <a:off x="6163054" y="1874517"/>
            <a:ext cx="1389891" cy="8412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5E2E7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1" name="TextBox 16"/>
          <p:cNvSpPr txBox="1"/>
          <p:nvPr/>
        </p:nvSpPr>
        <p:spPr>
          <a:xfrm>
            <a:off x="6318503" y="1993389"/>
            <a:ext cx="1078994" cy="289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2100">
                <a:solidFill>
                  <a:srgbClr val="665080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551</a:t>
            </a:r>
          </a:p>
        </p:txBody>
      </p:sp>
      <p:sp>
        <p:nvSpPr>
          <p:cNvPr id="132" name="TextBox 17"/>
          <p:cNvSpPr txBox="1"/>
          <p:nvPr/>
        </p:nvSpPr>
        <p:spPr>
          <a:xfrm>
            <a:off x="6318503" y="2359150"/>
            <a:ext cx="1078994" cy="221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1100">
                <a:solidFill>
                  <a:srgbClr val="606C7A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CET-6</a:t>
            </a:r>
          </a:p>
        </p:txBody>
      </p:sp>
      <p:sp>
        <p:nvSpPr>
          <p:cNvPr id="133" name="Rounded Rectangle 18"/>
          <p:cNvSpPr/>
          <p:nvPr/>
        </p:nvSpPr>
        <p:spPr>
          <a:xfrm>
            <a:off x="8750806" y="1746630"/>
            <a:ext cx="2468883" cy="281635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7DEE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4" name="TextBox 19"/>
          <p:cNvSpPr txBox="1"/>
          <p:nvPr/>
        </p:nvSpPr>
        <p:spPr>
          <a:xfrm>
            <a:off x="8951975" y="2011678"/>
            <a:ext cx="896114" cy="183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900">
                <a:solidFill>
                  <a:srgbClr val="121B27"/>
                </a:solidFill>
              </a:defRPr>
            </a:lvl1pPr>
          </a:lstStyle>
          <a:p>
            <a:pPr/>
            <a:r>
              <a:t>核心课程</a:t>
            </a:r>
          </a:p>
        </p:txBody>
      </p:sp>
      <p:sp>
        <p:nvSpPr>
          <p:cNvPr id="135" name="TextBox 20"/>
          <p:cNvSpPr txBox="1"/>
          <p:nvPr/>
        </p:nvSpPr>
        <p:spPr>
          <a:xfrm>
            <a:off x="8951975" y="2363722"/>
            <a:ext cx="749810" cy="196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606C7A"/>
                </a:solidFill>
              </a:defRPr>
            </a:lvl1pPr>
          </a:lstStyle>
          <a:p>
            <a:pPr/>
            <a:r>
              <a:t>经典力学</a:t>
            </a:r>
          </a:p>
        </p:txBody>
      </p:sp>
      <p:sp>
        <p:nvSpPr>
          <p:cNvPr id="136" name="Rectangle 21"/>
          <p:cNvSpPr/>
          <p:nvPr/>
        </p:nvSpPr>
        <p:spPr>
          <a:xfrm>
            <a:off x="9765792" y="2427732"/>
            <a:ext cx="914402" cy="64010"/>
          </a:xfrm>
          <a:prstGeom prst="rect">
            <a:avLst/>
          </a:prstGeom>
          <a:solidFill>
            <a:srgbClr val="E9EE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7" name="Rectangle 22"/>
          <p:cNvSpPr/>
          <p:nvPr/>
        </p:nvSpPr>
        <p:spPr>
          <a:xfrm>
            <a:off x="9765792" y="2427732"/>
            <a:ext cx="914402" cy="64010"/>
          </a:xfrm>
          <a:prstGeom prst="rect">
            <a:avLst/>
          </a:prstGeom>
          <a:solidFill>
            <a:srgbClr val="12758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8" name="TextBox 23"/>
          <p:cNvSpPr txBox="1"/>
          <p:nvPr/>
        </p:nvSpPr>
        <p:spPr>
          <a:xfrm>
            <a:off x="10730483" y="2388996"/>
            <a:ext cx="310898" cy="14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r">
              <a:lnSpc>
                <a:spcPct val="108000"/>
              </a:lnSpc>
              <a:defRPr sz="1000">
                <a:solidFill>
                  <a:srgbClr val="127584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100</a:t>
            </a:r>
          </a:p>
        </p:txBody>
      </p:sp>
      <p:sp>
        <p:nvSpPr>
          <p:cNvPr id="139" name="TextBox 24"/>
          <p:cNvSpPr txBox="1"/>
          <p:nvPr/>
        </p:nvSpPr>
        <p:spPr>
          <a:xfrm>
            <a:off x="8951975" y="2610611"/>
            <a:ext cx="749810" cy="196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606C7A"/>
                </a:solidFill>
              </a:defRPr>
            </a:lvl1pPr>
          </a:lstStyle>
          <a:p>
            <a:pPr/>
            <a:r>
              <a:t>光学</a:t>
            </a:r>
          </a:p>
        </p:txBody>
      </p:sp>
      <p:sp>
        <p:nvSpPr>
          <p:cNvPr id="140" name="Rectangle 25"/>
          <p:cNvSpPr/>
          <p:nvPr/>
        </p:nvSpPr>
        <p:spPr>
          <a:xfrm>
            <a:off x="9765792" y="2674620"/>
            <a:ext cx="914402" cy="64010"/>
          </a:xfrm>
          <a:prstGeom prst="rect">
            <a:avLst/>
          </a:prstGeom>
          <a:solidFill>
            <a:srgbClr val="E9EE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1" name="Rectangle 26"/>
          <p:cNvSpPr/>
          <p:nvPr/>
        </p:nvSpPr>
        <p:spPr>
          <a:xfrm>
            <a:off x="9765792" y="2674620"/>
            <a:ext cx="905257" cy="64010"/>
          </a:xfrm>
          <a:prstGeom prst="rect">
            <a:avLst/>
          </a:prstGeom>
          <a:solidFill>
            <a:srgbClr val="27978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2" name="TextBox 27"/>
          <p:cNvSpPr txBox="1"/>
          <p:nvPr/>
        </p:nvSpPr>
        <p:spPr>
          <a:xfrm>
            <a:off x="10780775" y="2637726"/>
            <a:ext cx="210314" cy="14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r">
              <a:lnSpc>
                <a:spcPct val="108000"/>
              </a:lnSpc>
              <a:defRPr sz="1000">
                <a:solidFill>
                  <a:srgbClr val="279789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99</a:t>
            </a:r>
          </a:p>
        </p:txBody>
      </p:sp>
      <p:sp>
        <p:nvSpPr>
          <p:cNvPr id="143" name="TextBox 28"/>
          <p:cNvSpPr txBox="1"/>
          <p:nvPr/>
        </p:nvSpPr>
        <p:spPr>
          <a:xfrm>
            <a:off x="8951975" y="2857499"/>
            <a:ext cx="749810" cy="183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900">
                <a:solidFill>
                  <a:srgbClr val="606C7A"/>
                </a:solidFill>
              </a:defRPr>
            </a:lvl1pPr>
          </a:lstStyle>
          <a:p>
            <a:pPr/>
            <a:r>
              <a:t>数学物理方法</a:t>
            </a:r>
          </a:p>
        </p:txBody>
      </p:sp>
      <p:sp>
        <p:nvSpPr>
          <p:cNvPr id="144" name="Rectangle 29"/>
          <p:cNvSpPr/>
          <p:nvPr/>
        </p:nvSpPr>
        <p:spPr>
          <a:xfrm>
            <a:off x="9765792" y="2921506"/>
            <a:ext cx="914402" cy="64010"/>
          </a:xfrm>
          <a:prstGeom prst="rect">
            <a:avLst/>
          </a:prstGeom>
          <a:solidFill>
            <a:srgbClr val="E9EE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5" name="Rectangle 30"/>
          <p:cNvSpPr/>
          <p:nvPr/>
        </p:nvSpPr>
        <p:spPr>
          <a:xfrm>
            <a:off x="9765792" y="2921506"/>
            <a:ext cx="896114" cy="64010"/>
          </a:xfrm>
          <a:prstGeom prst="rect">
            <a:avLst/>
          </a:prstGeom>
          <a:solidFill>
            <a:srgbClr val="4F805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6" name="TextBox 31"/>
          <p:cNvSpPr txBox="1"/>
          <p:nvPr/>
        </p:nvSpPr>
        <p:spPr>
          <a:xfrm>
            <a:off x="10744199" y="2908362"/>
            <a:ext cx="210315" cy="141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r">
              <a:lnSpc>
                <a:spcPct val="108000"/>
              </a:lnSpc>
              <a:defRPr sz="1000">
                <a:solidFill>
                  <a:srgbClr val="4F805E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98</a:t>
            </a:r>
          </a:p>
        </p:txBody>
      </p:sp>
      <p:sp>
        <p:nvSpPr>
          <p:cNvPr id="147" name="TextBox 32"/>
          <p:cNvSpPr txBox="1"/>
          <p:nvPr/>
        </p:nvSpPr>
        <p:spPr>
          <a:xfrm>
            <a:off x="8951975" y="3104388"/>
            <a:ext cx="749810" cy="196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606C7A"/>
                </a:solidFill>
              </a:defRPr>
            </a:lvl1pPr>
          </a:lstStyle>
          <a:p>
            <a:pPr/>
            <a:r>
              <a:t>线性代数</a:t>
            </a:r>
          </a:p>
        </p:txBody>
      </p:sp>
      <p:sp>
        <p:nvSpPr>
          <p:cNvPr id="148" name="Rectangle 33"/>
          <p:cNvSpPr/>
          <p:nvPr/>
        </p:nvSpPr>
        <p:spPr>
          <a:xfrm>
            <a:off x="9765792" y="3168394"/>
            <a:ext cx="914402" cy="64010"/>
          </a:xfrm>
          <a:prstGeom prst="rect">
            <a:avLst/>
          </a:prstGeom>
          <a:solidFill>
            <a:srgbClr val="E9EE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9" name="Rectangle 34"/>
          <p:cNvSpPr/>
          <p:nvPr/>
        </p:nvSpPr>
        <p:spPr>
          <a:xfrm>
            <a:off x="9765792" y="3168394"/>
            <a:ext cx="868682" cy="64010"/>
          </a:xfrm>
          <a:prstGeom prst="rect">
            <a:avLst/>
          </a:prstGeom>
          <a:solidFill>
            <a:srgbClr val="12758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0" name="TextBox 35"/>
          <p:cNvSpPr txBox="1"/>
          <p:nvPr/>
        </p:nvSpPr>
        <p:spPr>
          <a:xfrm>
            <a:off x="10744199" y="3172967"/>
            <a:ext cx="210315" cy="141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r">
              <a:lnSpc>
                <a:spcPct val="108000"/>
              </a:lnSpc>
              <a:defRPr sz="1000">
                <a:solidFill>
                  <a:srgbClr val="127584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95</a:t>
            </a:r>
          </a:p>
        </p:txBody>
      </p:sp>
      <p:sp>
        <p:nvSpPr>
          <p:cNvPr id="151" name="TextBox 36"/>
          <p:cNvSpPr txBox="1"/>
          <p:nvPr/>
        </p:nvSpPr>
        <p:spPr>
          <a:xfrm>
            <a:off x="8951975" y="3351276"/>
            <a:ext cx="749810" cy="183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900">
                <a:solidFill>
                  <a:srgbClr val="606C7A"/>
                </a:solidFill>
              </a:defRPr>
            </a:lvl1pPr>
          </a:lstStyle>
          <a:p>
            <a:pPr/>
            <a:r>
              <a:t>偏微分方程</a:t>
            </a:r>
          </a:p>
        </p:txBody>
      </p:sp>
      <p:sp>
        <p:nvSpPr>
          <p:cNvPr id="152" name="Rectangle 37"/>
          <p:cNvSpPr/>
          <p:nvPr/>
        </p:nvSpPr>
        <p:spPr>
          <a:xfrm>
            <a:off x="9765792" y="3415284"/>
            <a:ext cx="914402" cy="64010"/>
          </a:xfrm>
          <a:prstGeom prst="rect">
            <a:avLst/>
          </a:prstGeom>
          <a:solidFill>
            <a:srgbClr val="E9EE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3" name="Rectangle 38"/>
          <p:cNvSpPr/>
          <p:nvPr/>
        </p:nvSpPr>
        <p:spPr>
          <a:xfrm>
            <a:off x="9765792" y="3415284"/>
            <a:ext cx="841250" cy="64010"/>
          </a:xfrm>
          <a:prstGeom prst="rect">
            <a:avLst/>
          </a:prstGeom>
          <a:solidFill>
            <a:srgbClr val="C4843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4" name="TextBox 39"/>
          <p:cNvSpPr txBox="1"/>
          <p:nvPr/>
        </p:nvSpPr>
        <p:spPr>
          <a:xfrm>
            <a:off x="10744199" y="3378389"/>
            <a:ext cx="210315" cy="141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r">
              <a:lnSpc>
                <a:spcPct val="108000"/>
              </a:lnSpc>
              <a:defRPr sz="1000">
                <a:solidFill>
                  <a:srgbClr val="C48436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92</a:t>
            </a:r>
          </a:p>
        </p:txBody>
      </p:sp>
      <p:sp>
        <p:nvSpPr>
          <p:cNvPr id="155" name="TextBox 40"/>
          <p:cNvSpPr txBox="1"/>
          <p:nvPr/>
        </p:nvSpPr>
        <p:spPr>
          <a:xfrm>
            <a:off x="8951975" y="3598164"/>
            <a:ext cx="749810" cy="196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606C7A"/>
                </a:solidFill>
              </a:defRPr>
            </a:lvl1pPr>
          </a:lstStyle>
          <a:p>
            <a:pPr/>
            <a:r>
              <a:t>量子力学</a:t>
            </a:r>
          </a:p>
        </p:txBody>
      </p:sp>
      <p:sp>
        <p:nvSpPr>
          <p:cNvPr id="156" name="Rectangle 41"/>
          <p:cNvSpPr/>
          <p:nvPr/>
        </p:nvSpPr>
        <p:spPr>
          <a:xfrm>
            <a:off x="9765792" y="3662171"/>
            <a:ext cx="914402" cy="64010"/>
          </a:xfrm>
          <a:prstGeom prst="rect">
            <a:avLst/>
          </a:prstGeom>
          <a:solidFill>
            <a:srgbClr val="E9EE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7" name="Rectangle 42"/>
          <p:cNvSpPr/>
          <p:nvPr/>
        </p:nvSpPr>
        <p:spPr>
          <a:xfrm>
            <a:off x="9765792" y="3662171"/>
            <a:ext cx="832104" cy="64010"/>
          </a:xfrm>
          <a:prstGeom prst="rect">
            <a:avLst/>
          </a:prstGeom>
          <a:solidFill>
            <a:srgbClr val="6650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8" name="TextBox 43"/>
          <p:cNvSpPr txBox="1"/>
          <p:nvPr/>
        </p:nvSpPr>
        <p:spPr>
          <a:xfrm>
            <a:off x="10744199" y="3652392"/>
            <a:ext cx="210315" cy="14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r">
              <a:lnSpc>
                <a:spcPct val="108000"/>
              </a:lnSpc>
              <a:defRPr sz="1000">
                <a:solidFill>
                  <a:srgbClr val="665080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91</a:t>
            </a:r>
          </a:p>
        </p:txBody>
      </p:sp>
      <p:sp>
        <p:nvSpPr>
          <p:cNvPr id="159" name="TextBox 44"/>
          <p:cNvSpPr txBox="1"/>
          <p:nvPr/>
        </p:nvSpPr>
        <p:spPr>
          <a:xfrm>
            <a:off x="8951975" y="3845052"/>
            <a:ext cx="749810" cy="196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606C7A"/>
                </a:solidFill>
              </a:defRPr>
            </a:lvl1pPr>
          </a:lstStyle>
          <a:p>
            <a:pPr/>
            <a:r>
              <a:t>电磁学</a:t>
            </a:r>
          </a:p>
        </p:txBody>
      </p:sp>
      <p:sp>
        <p:nvSpPr>
          <p:cNvPr id="160" name="Rectangle 45"/>
          <p:cNvSpPr/>
          <p:nvPr/>
        </p:nvSpPr>
        <p:spPr>
          <a:xfrm>
            <a:off x="9765792" y="3909059"/>
            <a:ext cx="914402" cy="64010"/>
          </a:xfrm>
          <a:prstGeom prst="rect">
            <a:avLst/>
          </a:prstGeom>
          <a:solidFill>
            <a:srgbClr val="E9EE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1" name="Rectangle 46"/>
          <p:cNvSpPr/>
          <p:nvPr/>
        </p:nvSpPr>
        <p:spPr>
          <a:xfrm>
            <a:off x="9765792" y="3909059"/>
            <a:ext cx="822962" cy="64010"/>
          </a:xfrm>
          <a:prstGeom prst="rect">
            <a:avLst/>
          </a:prstGeom>
          <a:solidFill>
            <a:srgbClr val="2A344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2" name="TextBox 47"/>
          <p:cNvSpPr txBox="1"/>
          <p:nvPr/>
        </p:nvSpPr>
        <p:spPr>
          <a:xfrm>
            <a:off x="10744199" y="3899279"/>
            <a:ext cx="210315" cy="14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r">
              <a:lnSpc>
                <a:spcPct val="108000"/>
              </a:lnSpc>
              <a:defRPr sz="1000">
                <a:solidFill>
                  <a:srgbClr val="2A3440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90</a:t>
            </a:r>
          </a:p>
        </p:txBody>
      </p:sp>
      <p:sp>
        <p:nvSpPr>
          <p:cNvPr id="163" name="TextBox 48"/>
          <p:cNvSpPr txBox="1"/>
          <p:nvPr/>
        </p:nvSpPr>
        <p:spPr>
          <a:xfrm>
            <a:off x="8951975" y="4091937"/>
            <a:ext cx="749810" cy="196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606C7A"/>
                </a:solidFill>
              </a:defRPr>
            </a:lvl1pPr>
          </a:lstStyle>
          <a:p>
            <a:pPr/>
            <a:r>
              <a:t>固体物理</a:t>
            </a:r>
          </a:p>
        </p:txBody>
      </p:sp>
      <p:sp>
        <p:nvSpPr>
          <p:cNvPr id="164" name="Rectangle 49"/>
          <p:cNvSpPr/>
          <p:nvPr/>
        </p:nvSpPr>
        <p:spPr>
          <a:xfrm>
            <a:off x="9765792" y="4155947"/>
            <a:ext cx="914402" cy="64010"/>
          </a:xfrm>
          <a:prstGeom prst="rect">
            <a:avLst/>
          </a:prstGeom>
          <a:solidFill>
            <a:srgbClr val="E9EE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5" name="Rectangle 50"/>
          <p:cNvSpPr/>
          <p:nvPr/>
        </p:nvSpPr>
        <p:spPr>
          <a:xfrm>
            <a:off x="9765792" y="4155947"/>
            <a:ext cx="832104" cy="64010"/>
          </a:xfrm>
          <a:prstGeom prst="rect">
            <a:avLst/>
          </a:prstGeom>
          <a:solidFill>
            <a:srgbClr val="4F805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6" name="TextBox 51"/>
          <p:cNvSpPr txBox="1"/>
          <p:nvPr/>
        </p:nvSpPr>
        <p:spPr>
          <a:xfrm>
            <a:off x="10744199" y="4122418"/>
            <a:ext cx="210315" cy="141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r">
              <a:lnSpc>
                <a:spcPct val="108000"/>
              </a:lnSpc>
              <a:defRPr sz="1000">
                <a:solidFill>
                  <a:srgbClr val="4F805E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91</a:t>
            </a:r>
          </a:p>
        </p:txBody>
      </p:sp>
      <p:sp>
        <p:nvSpPr>
          <p:cNvPr id="167" name="Rounded Rectangle 52"/>
          <p:cNvSpPr/>
          <p:nvPr/>
        </p:nvSpPr>
        <p:spPr>
          <a:xfrm>
            <a:off x="648858" y="3257613"/>
            <a:ext cx="2395730" cy="11430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CE5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8" name="Oval 53"/>
          <p:cNvSpPr/>
          <p:nvPr/>
        </p:nvSpPr>
        <p:spPr>
          <a:xfrm>
            <a:off x="850026" y="3541078"/>
            <a:ext cx="310899" cy="310899"/>
          </a:xfrm>
          <a:prstGeom prst="ellipse">
            <a:avLst/>
          </a:prstGeom>
          <a:solidFill>
            <a:srgbClr val="12758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9" name="TextBox 54"/>
          <p:cNvSpPr txBox="1"/>
          <p:nvPr/>
        </p:nvSpPr>
        <p:spPr>
          <a:xfrm>
            <a:off x="872887" y="3637090"/>
            <a:ext cx="265178" cy="190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ctr">
              <a:lnSpc>
                <a:spcPct val="108000"/>
              </a:lnSpc>
              <a:defRPr sz="1400">
                <a:solidFill>
                  <a:srgbClr val="FFFFFF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70" name="TextBox 55"/>
          <p:cNvSpPr txBox="1"/>
          <p:nvPr/>
        </p:nvSpPr>
        <p:spPr>
          <a:xfrm>
            <a:off x="1298082" y="3467925"/>
            <a:ext cx="1399034" cy="23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1200">
                <a:solidFill>
                  <a:srgbClr val="121B27"/>
                </a:solidFill>
              </a:defRPr>
            </a:lvl1pPr>
          </a:lstStyle>
          <a:p>
            <a:pPr/>
            <a:r>
              <a:t>物理图像</a:t>
            </a:r>
          </a:p>
        </p:txBody>
      </p:sp>
      <p:sp>
        <p:nvSpPr>
          <p:cNvPr id="171" name="TextBox 56"/>
          <p:cNvSpPr txBox="1"/>
          <p:nvPr/>
        </p:nvSpPr>
        <p:spPr>
          <a:xfrm>
            <a:off x="1298082" y="3769678"/>
            <a:ext cx="1463042" cy="540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900">
                <a:solidFill>
                  <a:srgbClr val="606C7A"/>
                </a:solidFill>
              </a:defRPr>
            </a:lvl1pPr>
          </a:lstStyle>
          <a:p>
            <a:pPr/>
            <a:r>
              <a:t>从经典、量子、电磁和固体物理中识别模型对象与适用边界。</a:t>
            </a:r>
          </a:p>
        </p:txBody>
      </p:sp>
      <p:sp>
        <p:nvSpPr>
          <p:cNvPr id="172" name="Rounded Rectangle 57"/>
          <p:cNvSpPr/>
          <p:nvPr/>
        </p:nvSpPr>
        <p:spPr>
          <a:xfrm>
            <a:off x="3328051" y="3257613"/>
            <a:ext cx="2395730" cy="11430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CE5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3" name="Oval 58"/>
          <p:cNvSpPr/>
          <p:nvPr/>
        </p:nvSpPr>
        <p:spPr>
          <a:xfrm>
            <a:off x="3529219" y="3541078"/>
            <a:ext cx="310899" cy="310899"/>
          </a:xfrm>
          <a:prstGeom prst="ellipse">
            <a:avLst/>
          </a:prstGeom>
          <a:solidFill>
            <a:srgbClr val="4F805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4" name="TextBox 59"/>
          <p:cNvSpPr txBox="1"/>
          <p:nvPr/>
        </p:nvSpPr>
        <p:spPr>
          <a:xfrm>
            <a:off x="3552078" y="3637090"/>
            <a:ext cx="265178" cy="190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ctr">
              <a:lnSpc>
                <a:spcPct val="108000"/>
              </a:lnSpc>
              <a:defRPr sz="1400">
                <a:solidFill>
                  <a:srgbClr val="FFFFFF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75" name="TextBox 60"/>
          <p:cNvSpPr txBox="1"/>
          <p:nvPr/>
        </p:nvSpPr>
        <p:spPr>
          <a:xfrm>
            <a:off x="3977275" y="3467925"/>
            <a:ext cx="1399034" cy="23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1200">
                <a:solidFill>
                  <a:srgbClr val="121B27"/>
                </a:solidFill>
              </a:defRPr>
            </a:lvl1pPr>
          </a:lstStyle>
          <a:p>
            <a:pPr/>
            <a:r>
              <a:t>数学表达</a:t>
            </a:r>
          </a:p>
        </p:txBody>
      </p:sp>
      <p:sp>
        <p:nvSpPr>
          <p:cNvPr id="176" name="TextBox 61"/>
          <p:cNvSpPr txBox="1"/>
          <p:nvPr/>
        </p:nvSpPr>
        <p:spPr>
          <a:xfrm>
            <a:off x="3977275" y="3769678"/>
            <a:ext cx="1463042" cy="540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900">
                <a:solidFill>
                  <a:srgbClr val="606C7A"/>
                </a:solidFill>
              </a:defRPr>
            </a:lvl1pPr>
          </a:lstStyle>
          <a:p>
            <a:pPr/>
            <a:r>
              <a:t>用数学物理方法、线性代数和偏微分方程承接推导与离散化。</a:t>
            </a:r>
          </a:p>
        </p:txBody>
      </p:sp>
      <p:sp>
        <p:nvSpPr>
          <p:cNvPr id="177" name="Rounded Rectangle 62"/>
          <p:cNvSpPr/>
          <p:nvPr/>
        </p:nvSpPr>
        <p:spPr>
          <a:xfrm>
            <a:off x="6007243" y="3257613"/>
            <a:ext cx="2395729" cy="11430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CE5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8" name="Oval 63"/>
          <p:cNvSpPr/>
          <p:nvPr/>
        </p:nvSpPr>
        <p:spPr>
          <a:xfrm>
            <a:off x="6208410" y="3541078"/>
            <a:ext cx="310899" cy="310899"/>
          </a:xfrm>
          <a:prstGeom prst="ellipse">
            <a:avLst/>
          </a:prstGeom>
          <a:solidFill>
            <a:srgbClr val="C4843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79" name="TextBox 64"/>
          <p:cNvSpPr txBox="1"/>
          <p:nvPr/>
        </p:nvSpPr>
        <p:spPr>
          <a:xfrm>
            <a:off x="6231270" y="3637090"/>
            <a:ext cx="265178" cy="190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ctr">
              <a:lnSpc>
                <a:spcPct val="108000"/>
              </a:lnSpc>
              <a:defRPr sz="1400">
                <a:solidFill>
                  <a:srgbClr val="FFFFFF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80" name="TextBox 65"/>
          <p:cNvSpPr txBox="1"/>
          <p:nvPr/>
        </p:nvSpPr>
        <p:spPr>
          <a:xfrm>
            <a:off x="6656467" y="3467925"/>
            <a:ext cx="1399034" cy="23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1200">
                <a:solidFill>
                  <a:srgbClr val="121B27"/>
                </a:solidFill>
              </a:defRPr>
            </a:lvl1pPr>
          </a:lstStyle>
          <a:p>
            <a:pPr/>
            <a:r>
              <a:t>计算实现</a:t>
            </a:r>
          </a:p>
        </p:txBody>
      </p:sp>
      <p:sp>
        <p:nvSpPr>
          <p:cNvPr id="181" name="TextBox 66"/>
          <p:cNvSpPr txBox="1"/>
          <p:nvPr/>
        </p:nvSpPr>
        <p:spPr>
          <a:xfrm>
            <a:off x="6656467" y="3769678"/>
            <a:ext cx="1463042" cy="540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/>
          <a:p>
            <a:pPr>
              <a:lnSpc>
                <a:spcPct val="108000"/>
              </a:lnSpc>
              <a:defRPr sz="900">
                <a:solidFill>
                  <a:srgbClr val="606C7A"/>
                </a:solidFill>
              </a:defRPr>
            </a:pPr>
            <a:r>
              <a:t>用 </a:t>
            </a:r>
            <a:r>
              <a:rPr>
                <a:latin typeface="PingFang SC Regular"/>
                <a:ea typeface="PingFang SC Regular"/>
                <a:cs typeface="PingFang SC Regular"/>
                <a:sym typeface="PingFang SC Regular"/>
              </a:rPr>
              <a:t>Python / Matlab / LaTeX </a:t>
            </a:r>
            <a:r>
              <a:t>将公式转化为可检验的数值流程。</a:t>
            </a:r>
          </a:p>
        </p:txBody>
      </p:sp>
      <p:sp>
        <p:nvSpPr>
          <p:cNvPr id="182" name="Connector 68"/>
          <p:cNvSpPr/>
          <p:nvPr/>
        </p:nvSpPr>
        <p:spPr>
          <a:xfrm>
            <a:off x="566926" y="6419088"/>
            <a:ext cx="11064243" cy="2"/>
          </a:xfrm>
          <a:prstGeom prst="line">
            <a:avLst/>
          </a:prstGeom>
          <a:ln w="8890">
            <a:solidFill>
              <a:srgbClr val="D7DEE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" name="TextBox 69"/>
          <p:cNvSpPr txBox="1"/>
          <p:nvPr/>
        </p:nvSpPr>
        <p:spPr>
          <a:xfrm>
            <a:off x="576070" y="6483096"/>
            <a:ext cx="5376676" cy="157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/>
          <a:p>
            <a:pPr>
              <a:lnSpc>
                <a:spcPct val="108000"/>
              </a:lnSpc>
              <a:defRPr sz="800">
                <a:solidFill>
                  <a:srgbClr val="606C7A"/>
                </a:solidFill>
              </a:defRPr>
            </a:pPr>
            <a:r>
              <a:t>齐恒 </a:t>
            </a:r>
            <a:r>
              <a:rPr>
                <a:latin typeface="PingFang SC Regular"/>
                <a:ea typeface="PingFang SC Regular"/>
                <a:cs typeface="PingFang SC Regular"/>
                <a:sym typeface="PingFang SC Regular"/>
              </a:rPr>
              <a:t>· </a:t>
            </a:r>
            <a:r>
              <a:t>东华大学物理学院 </a:t>
            </a:r>
            <a:r>
              <a:rPr>
                <a:latin typeface="PingFang SC Regular"/>
                <a:ea typeface="PingFang SC Regular"/>
                <a:cs typeface="PingFang SC Regular"/>
                <a:sym typeface="PingFang SC Regular"/>
              </a:rPr>
              <a:t>· </a:t>
            </a:r>
            <a:r>
              <a:t>应用物理学（新能源与微电子）</a:t>
            </a:r>
          </a:p>
        </p:txBody>
      </p:sp>
      <p:sp>
        <p:nvSpPr>
          <p:cNvPr id="184" name="TextBox 71"/>
          <p:cNvSpPr txBox="1"/>
          <p:nvPr/>
        </p:nvSpPr>
        <p:spPr>
          <a:xfrm>
            <a:off x="11045951" y="6483096"/>
            <a:ext cx="5852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r">
              <a:lnSpc>
                <a:spcPct val="108000"/>
              </a:lnSpc>
              <a:defRPr sz="800">
                <a:solidFill>
                  <a:srgbClr val="606C7A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pPr/>
            <a:r>
              <a:t>02/06</a:t>
            </a:r>
          </a:p>
        </p:txBody>
      </p:sp>
      <p:sp>
        <p:nvSpPr>
          <p:cNvPr id="185" name="核心竞争力：我自己平时会用一些agent做一些项目，也恰恰是我自驱力的体现…"/>
          <p:cNvSpPr txBox="1"/>
          <p:nvPr/>
        </p:nvSpPr>
        <p:spPr>
          <a:xfrm>
            <a:off x="984626" y="4795662"/>
            <a:ext cx="7942842" cy="675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>
                <a:solidFill>
                  <a:schemeClr val="accent2">
                    <a:satOff val="-4966"/>
                    <a:lumOff val="-10549"/>
                  </a:schemeClr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核心竞争力：我自己平时会用一些agent做一些项目，也恰恰是我自驱力的体现</a:t>
            </a:r>
          </a:p>
          <a:p>
            <a:pPr>
              <a:defRPr sz="1200">
                <a:solidFill>
                  <a:schemeClr val="accent2">
                    <a:satOff val="-4966"/>
                    <a:lumOff val="-10549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自驱探索：主动发现问题，借助 AI agent 将想法快速落地为可验证项目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"/>
          <p:cNvSpPr/>
          <p:nvPr/>
        </p:nvSpPr>
        <p:spPr>
          <a:xfrm>
            <a:off x="566927" y="393190"/>
            <a:ext cx="82298" cy="228602"/>
          </a:xfrm>
          <a:prstGeom prst="rect">
            <a:avLst/>
          </a:prstGeom>
          <a:solidFill>
            <a:srgbClr val="12758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88" name="TextBox 2"/>
          <p:cNvSpPr txBox="1"/>
          <p:nvPr/>
        </p:nvSpPr>
        <p:spPr>
          <a:xfrm>
            <a:off x="722375" y="347472"/>
            <a:ext cx="263347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800">
                <a:solidFill>
                  <a:srgbClr val="606C7A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PROJECT EVIDENCE</a:t>
            </a:r>
          </a:p>
        </p:txBody>
      </p:sp>
      <p:sp>
        <p:nvSpPr>
          <p:cNvPr id="189" name="TextBox 3"/>
          <p:cNvSpPr txBox="1"/>
          <p:nvPr/>
        </p:nvSpPr>
        <p:spPr>
          <a:xfrm>
            <a:off x="10479023" y="347472"/>
            <a:ext cx="1152146" cy="183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r">
              <a:lnSpc>
                <a:spcPct val="108000"/>
              </a:lnSpc>
              <a:defRPr sz="900">
                <a:solidFill>
                  <a:srgbClr val="606C7A"/>
                </a:solidFill>
              </a:defRPr>
            </a:lvl1pPr>
          </a:lstStyle>
          <a:p>
            <a:pPr/>
            <a:r>
              <a:t>项目证据</a:t>
            </a:r>
          </a:p>
        </p:txBody>
      </p:sp>
      <p:sp>
        <p:nvSpPr>
          <p:cNvPr id="190" name="TextBox 4"/>
          <p:cNvSpPr txBox="1"/>
          <p:nvPr/>
        </p:nvSpPr>
        <p:spPr>
          <a:xfrm>
            <a:off x="576071" y="768095"/>
            <a:ext cx="8759954" cy="475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/>
          <a:p>
            <a:pPr>
              <a:lnSpc>
                <a:spcPct val="108000"/>
              </a:lnSpc>
              <a:defRPr b="1" sz="2500">
                <a:solidFill>
                  <a:srgbClr val="121B27"/>
                </a:solidFill>
              </a:defRPr>
            </a:pPr>
            <a:r>
              <a:t>项目重点不是</a:t>
            </a:r>
            <a:r>
              <a:rPr b="0">
                <a:latin typeface="PingFang SC Semibold"/>
                <a:ea typeface="PingFang SC Semibold"/>
                <a:cs typeface="PingFang SC Semibold"/>
                <a:sym typeface="PingFang SC Semibold"/>
              </a:rPr>
              <a:t>“</a:t>
            </a:r>
            <a:r>
              <a:t>成果成熟</a:t>
            </a:r>
            <a:r>
              <a:rPr b="0">
                <a:latin typeface="PingFang SC Semibold"/>
                <a:ea typeface="PingFang SC Semibold"/>
                <a:cs typeface="PingFang SC Semibold"/>
                <a:sym typeface="PingFang SC Semibold"/>
              </a:rPr>
              <a:t>”</a:t>
            </a:r>
            <a:r>
              <a:t>，而是自驱拆解和实现能力</a:t>
            </a:r>
          </a:p>
        </p:txBody>
      </p:sp>
      <p:sp>
        <p:nvSpPr>
          <p:cNvPr id="191" name="Rounded Rectangle 6"/>
          <p:cNvSpPr/>
          <p:nvPr/>
        </p:nvSpPr>
        <p:spPr>
          <a:xfrm>
            <a:off x="10808206" y="786383"/>
            <a:ext cx="804674" cy="804673"/>
          </a:xfrm>
          <a:prstGeom prst="roundRect">
            <a:avLst>
              <a:gd name="adj" fmla="val 16667"/>
            </a:avLst>
          </a:prstGeom>
          <a:solidFill>
            <a:srgbClr val="EFF7F8"/>
          </a:solidFill>
          <a:ln w="8890">
            <a:solidFill>
              <a:srgbClr val="C8DDE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19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863071" y="841247"/>
            <a:ext cx="694946" cy="694945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TextBox 8"/>
          <p:cNvSpPr txBox="1"/>
          <p:nvPr/>
        </p:nvSpPr>
        <p:spPr>
          <a:xfrm>
            <a:off x="10725911" y="1645920"/>
            <a:ext cx="987553" cy="157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ctr">
              <a:lnSpc>
                <a:spcPct val="108000"/>
              </a:lnSpc>
              <a:defRPr b="1" sz="800">
                <a:solidFill>
                  <a:srgbClr val="127584"/>
                </a:solidFill>
              </a:defRPr>
            </a:lvl1pPr>
          </a:lstStyle>
          <a:p>
            <a:pPr/>
            <a:r>
              <a:t>扫码看主页</a:t>
            </a:r>
          </a:p>
        </p:txBody>
      </p:sp>
      <p:sp>
        <p:nvSpPr>
          <p:cNvPr id="194" name="TextBox 9"/>
          <p:cNvSpPr txBox="1"/>
          <p:nvPr/>
        </p:nvSpPr>
        <p:spPr>
          <a:xfrm>
            <a:off x="8805671" y="932688"/>
            <a:ext cx="1719074" cy="196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/>
          <a:p>
            <a:pPr algn="r">
              <a:lnSpc>
                <a:spcPct val="108000"/>
              </a:lnSpc>
              <a:defRPr b="1" sz="1000">
                <a:solidFill>
                  <a:srgbClr val="127584"/>
                </a:solidFill>
              </a:defRPr>
            </a:pPr>
            <a:r>
              <a:t>个人主页与 </a:t>
            </a:r>
            <a:r>
              <a:rPr b="0">
                <a:latin typeface="PingFang SC Semibold"/>
                <a:ea typeface="PingFang SC Semibold"/>
                <a:cs typeface="PingFang SC Semibold"/>
                <a:sym typeface="PingFang SC Semibold"/>
              </a:rPr>
              <a:t>GitHub</a:t>
            </a:r>
          </a:p>
        </p:txBody>
      </p:sp>
      <p:sp>
        <p:nvSpPr>
          <p:cNvPr id="195" name="TextBox 10"/>
          <p:cNvSpPr txBox="1"/>
          <p:nvPr/>
        </p:nvSpPr>
        <p:spPr>
          <a:xfrm>
            <a:off x="8677654" y="1207008"/>
            <a:ext cx="18470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r">
              <a:lnSpc>
                <a:spcPct val="108000"/>
              </a:lnSpc>
              <a:defRPr sz="800">
                <a:solidFill>
                  <a:srgbClr val="606C7A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pPr/>
            <a:r>
              <a:t>hengqi61-maker.github.io</a:t>
            </a:r>
          </a:p>
        </p:txBody>
      </p:sp>
      <p:sp>
        <p:nvSpPr>
          <p:cNvPr id="196" name="Rounded Rectangle 11"/>
          <p:cNvSpPr/>
          <p:nvPr/>
        </p:nvSpPr>
        <p:spPr>
          <a:xfrm>
            <a:off x="658368" y="1828800"/>
            <a:ext cx="3401568" cy="3566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8E3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97" name="TextBox 12"/>
          <p:cNvSpPr txBox="1"/>
          <p:nvPr/>
        </p:nvSpPr>
        <p:spPr>
          <a:xfrm>
            <a:off x="886967" y="2066543"/>
            <a:ext cx="217627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800">
                <a:solidFill>
                  <a:srgbClr val="127584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QUANTUM / VISUALIZATION</a:t>
            </a:r>
          </a:p>
        </p:txBody>
      </p:sp>
      <p:sp>
        <p:nvSpPr>
          <p:cNvPr id="198" name="TextBox 13"/>
          <p:cNvSpPr txBox="1"/>
          <p:nvPr/>
        </p:nvSpPr>
        <p:spPr>
          <a:xfrm>
            <a:off x="886967" y="2331720"/>
            <a:ext cx="2834643" cy="272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2000"/>
              </a:lnSpc>
              <a:defRPr b="1" sz="1400">
                <a:solidFill>
                  <a:srgbClr val="121B27"/>
                </a:solidFill>
              </a:defRPr>
            </a:lvl1pPr>
          </a:lstStyle>
          <a:p>
            <a:pPr/>
            <a:r>
              <a:t>氢原子轨道电子云</a:t>
            </a:r>
          </a:p>
        </p:txBody>
      </p:sp>
      <p:sp>
        <p:nvSpPr>
          <p:cNvPr id="199" name="TextBox 14"/>
          <p:cNvSpPr txBox="1"/>
          <p:nvPr/>
        </p:nvSpPr>
        <p:spPr>
          <a:xfrm>
            <a:off x="905254" y="2871216"/>
            <a:ext cx="694947" cy="221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1100">
                <a:solidFill>
                  <a:srgbClr val="127584"/>
                </a:solidFill>
              </a:defRPr>
            </a:lvl1pPr>
          </a:lstStyle>
          <a:p>
            <a:pPr/>
            <a:r>
              <a:t>问题来源</a:t>
            </a:r>
          </a:p>
        </p:txBody>
      </p:sp>
      <p:sp>
        <p:nvSpPr>
          <p:cNvPr id="200" name="TextBox 15"/>
          <p:cNvSpPr txBox="1"/>
          <p:nvPr/>
        </p:nvSpPr>
        <p:spPr>
          <a:xfrm>
            <a:off x="1609344" y="2862072"/>
            <a:ext cx="2121408" cy="440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1100">
                <a:solidFill>
                  <a:srgbClr val="606C7A"/>
                </a:solidFill>
              </a:defRPr>
            </a:lvl1pPr>
          </a:lstStyle>
          <a:p>
            <a:pPr/>
            <a:r>
              <a:t>想理解轨道形状到底应由什么定义，而不只是背图像。</a:t>
            </a:r>
          </a:p>
        </p:txBody>
      </p:sp>
      <p:sp>
        <p:nvSpPr>
          <p:cNvPr id="201" name="TextBox 16"/>
          <p:cNvSpPr txBox="1"/>
          <p:nvPr/>
        </p:nvSpPr>
        <p:spPr>
          <a:xfrm>
            <a:off x="905254" y="3584447"/>
            <a:ext cx="694947" cy="221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1100">
                <a:solidFill>
                  <a:srgbClr val="127584"/>
                </a:solidFill>
              </a:defRPr>
            </a:lvl1pPr>
          </a:lstStyle>
          <a:p>
            <a:pPr/>
            <a:r>
              <a:t>实现路径</a:t>
            </a:r>
          </a:p>
        </p:txBody>
      </p:sp>
      <p:sp>
        <p:nvSpPr>
          <p:cNvPr id="202" name="TextBox 17"/>
          <p:cNvSpPr txBox="1"/>
          <p:nvPr/>
        </p:nvSpPr>
        <p:spPr>
          <a:xfrm>
            <a:off x="1609344" y="3575303"/>
            <a:ext cx="2121408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606C7A"/>
                </a:solidFill>
              </a:defRPr>
            </a:pPr>
            <a:r>
              <a:t>以概率密度为对象，结合 </a:t>
            </a:r>
            <a:r>
              <a:rPr>
                <a:latin typeface="PingFang SC Regular"/>
                <a:ea typeface="PingFang SC Regular"/>
                <a:cs typeface="PingFang SC Regular"/>
                <a:sym typeface="PingFang SC Regular"/>
              </a:rPr>
              <a:t>Monte Carlo </a:t>
            </a:r>
            <a:r>
              <a:t>采样和三维可视化检验理解。</a:t>
            </a:r>
          </a:p>
        </p:txBody>
      </p:sp>
      <p:sp>
        <p:nvSpPr>
          <p:cNvPr id="203" name="TextBox 20"/>
          <p:cNvSpPr txBox="1"/>
          <p:nvPr/>
        </p:nvSpPr>
        <p:spPr>
          <a:xfrm>
            <a:off x="905254" y="4297679"/>
            <a:ext cx="694947" cy="221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1100">
                <a:solidFill>
                  <a:srgbClr val="127584"/>
                </a:solidFill>
              </a:defRPr>
            </a:lvl1pPr>
          </a:lstStyle>
          <a:p>
            <a:pPr/>
            <a:r>
              <a:t>证明能力</a:t>
            </a:r>
          </a:p>
        </p:txBody>
      </p:sp>
      <p:sp>
        <p:nvSpPr>
          <p:cNvPr id="204" name="TextBox 21"/>
          <p:cNvSpPr txBox="1"/>
          <p:nvPr/>
        </p:nvSpPr>
        <p:spPr>
          <a:xfrm>
            <a:off x="1609344" y="4288535"/>
            <a:ext cx="2121408" cy="440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1100">
                <a:solidFill>
                  <a:srgbClr val="606C7A"/>
                </a:solidFill>
              </a:defRPr>
            </a:lvl1pPr>
          </a:lstStyle>
          <a:p>
            <a:pPr/>
            <a:r>
              <a:t>能把公式、概率分布、采样误差和可视化结果串起来。</a:t>
            </a:r>
          </a:p>
        </p:txBody>
      </p:sp>
      <p:sp>
        <p:nvSpPr>
          <p:cNvPr id="205" name="Rounded Rectangle 31"/>
          <p:cNvSpPr/>
          <p:nvPr/>
        </p:nvSpPr>
        <p:spPr>
          <a:xfrm>
            <a:off x="5202935" y="1828799"/>
            <a:ext cx="3401570" cy="35661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8E3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06" name="TextBox 32"/>
          <p:cNvSpPr txBox="1"/>
          <p:nvPr/>
        </p:nvSpPr>
        <p:spPr>
          <a:xfrm>
            <a:off x="5431535" y="2066543"/>
            <a:ext cx="217627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800">
                <a:solidFill>
                  <a:srgbClr val="665080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AI WORKFLOW</a:t>
            </a:r>
          </a:p>
        </p:txBody>
      </p:sp>
      <p:sp>
        <p:nvSpPr>
          <p:cNvPr id="207" name="TextBox 33"/>
          <p:cNvSpPr txBox="1"/>
          <p:nvPr/>
        </p:nvSpPr>
        <p:spPr>
          <a:xfrm>
            <a:off x="5431535" y="2319020"/>
            <a:ext cx="2834642" cy="480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/>
          <a:p>
            <a:pPr>
              <a:lnSpc>
                <a:spcPct val="102000"/>
              </a:lnSpc>
              <a:defRPr sz="1300">
                <a:solidFill>
                  <a:srgbClr val="121B27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Memory Engine</a:t>
            </a:r>
          </a:p>
          <a:p>
            <a:pPr>
              <a:lnSpc>
                <a:spcPct val="102000"/>
              </a:lnSpc>
              <a:defRPr sz="1300">
                <a:solidFill>
                  <a:srgbClr val="121B27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t>AI Agent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工具</a:t>
            </a:r>
          </a:p>
        </p:txBody>
      </p:sp>
      <p:sp>
        <p:nvSpPr>
          <p:cNvPr id="208" name="TextBox 34"/>
          <p:cNvSpPr txBox="1"/>
          <p:nvPr/>
        </p:nvSpPr>
        <p:spPr>
          <a:xfrm>
            <a:off x="5449823" y="2871216"/>
            <a:ext cx="694946" cy="221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1100">
                <a:solidFill>
                  <a:srgbClr val="665080"/>
                </a:solidFill>
              </a:defRPr>
            </a:lvl1pPr>
          </a:lstStyle>
          <a:p>
            <a:pPr/>
            <a:r>
              <a:t>问题来源</a:t>
            </a:r>
          </a:p>
        </p:txBody>
      </p:sp>
      <p:sp>
        <p:nvSpPr>
          <p:cNvPr id="209" name="TextBox 35"/>
          <p:cNvSpPr txBox="1"/>
          <p:nvPr/>
        </p:nvSpPr>
        <p:spPr>
          <a:xfrm>
            <a:off x="6153910" y="2862072"/>
            <a:ext cx="2121410" cy="440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1100">
                <a:solidFill>
                  <a:srgbClr val="606C7A"/>
                </a:solidFill>
              </a:defRPr>
            </a:lvl1pPr>
          </a:lstStyle>
          <a:p>
            <a:pPr/>
            <a:r>
              <a:t>大模型上下文有限，重要信息容易遗忘，科研过程也需要长期记录。</a:t>
            </a:r>
          </a:p>
        </p:txBody>
      </p:sp>
      <p:sp>
        <p:nvSpPr>
          <p:cNvPr id="210" name="TextBox 36"/>
          <p:cNvSpPr txBox="1"/>
          <p:nvPr/>
        </p:nvSpPr>
        <p:spPr>
          <a:xfrm>
            <a:off x="5449823" y="3584447"/>
            <a:ext cx="694946" cy="221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1100">
                <a:solidFill>
                  <a:srgbClr val="665080"/>
                </a:solidFill>
              </a:defRPr>
            </a:lvl1pPr>
          </a:lstStyle>
          <a:p>
            <a:pPr/>
            <a:r>
              <a:t>实现路径</a:t>
            </a:r>
          </a:p>
        </p:txBody>
      </p:sp>
      <p:sp>
        <p:nvSpPr>
          <p:cNvPr id="211" name="TextBox 37"/>
          <p:cNvSpPr txBox="1"/>
          <p:nvPr/>
        </p:nvSpPr>
        <p:spPr>
          <a:xfrm>
            <a:off x="6153910" y="3575303"/>
            <a:ext cx="2121410" cy="440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1100">
                <a:solidFill>
                  <a:srgbClr val="606C7A"/>
                </a:solidFill>
              </a:defRPr>
            </a:lvl1pPr>
          </a:lstStyle>
          <a:p>
            <a:pPr/>
            <a:r>
              <a:t>做长期记忆、语义检索、衰减、巩固和文档化流程。</a:t>
            </a:r>
          </a:p>
        </p:txBody>
      </p:sp>
      <p:sp>
        <p:nvSpPr>
          <p:cNvPr id="212" name="TextBox 38"/>
          <p:cNvSpPr txBox="1"/>
          <p:nvPr/>
        </p:nvSpPr>
        <p:spPr>
          <a:xfrm>
            <a:off x="5449823" y="4297679"/>
            <a:ext cx="694946" cy="221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1100">
                <a:solidFill>
                  <a:srgbClr val="665080"/>
                </a:solidFill>
              </a:defRPr>
            </a:lvl1pPr>
          </a:lstStyle>
          <a:p>
            <a:pPr/>
            <a:r>
              <a:t>证明能力</a:t>
            </a:r>
          </a:p>
        </p:txBody>
      </p:sp>
      <p:sp>
        <p:nvSpPr>
          <p:cNvPr id="213" name="TextBox 39"/>
          <p:cNvSpPr txBox="1"/>
          <p:nvPr/>
        </p:nvSpPr>
        <p:spPr>
          <a:xfrm>
            <a:off x="6153910" y="4288535"/>
            <a:ext cx="2121410" cy="440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606C7A"/>
                </a:solidFill>
              </a:defRPr>
            </a:pPr>
            <a:r>
              <a:t>能用 </a:t>
            </a:r>
            <a:r>
              <a:rPr>
                <a:latin typeface="PingFang SC Regular"/>
                <a:ea typeface="PingFang SC Regular"/>
                <a:cs typeface="PingFang SC Regular"/>
                <a:sym typeface="PingFang SC Regular"/>
              </a:rPr>
              <a:t>AI </a:t>
            </a:r>
            <a:r>
              <a:t>协作提升学习、代码实验和科研工作流效率。</a:t>
            </a:r>
          </a:p>
        </p:txBody>
      </p:sp>
      <p:sp>
        <p:nvSpPr>
          <p:cNvPr id="214" name="Rounded Rectangle 40"/>
          <p:cNvSpPr/>
          <p:nvPr/>
        </p:nvSpPr>
        <p:spPr>
          <a:xfrm>
            <a:off x="822960" y="5605271"/>
            <a:ext cx="10561320" cy="393194"/>
          </a:xfrm>
          <a:prstGeom prst="roundRect">
            <a:avLst>
              <a:gd name="adj" fmla="val 16667"/>
            </a:avLst>
          </a:prstGeom>
          <a:solidFill>
            <a:srgbClr val="EDF5F5"/>
          </a:solidFill>
          <a:ln w="8890">
            <a:solidFill>
              <a:srgbClr val="C9DCD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15" name="TextBox 41"/>
          <p:cNvSpPr txBox="1"/>
          <p:nvPr/>
        </p:nvSpPr>
        <p:spPr>
          <a:xfrm>
            <a:off x="1033271" y="5714998"/>
            <a:ext cx="10085835" cy="23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ctr">
              <a:lnSpc>
                <a:spcPct val="108000"/>
              </a:lnSpc>
              <a:defRPr b="1" sz="1200">
                <a:solidFill>
                  <a:srgbClr val="127584"/>
                </a:solidFill>
              </a:defRPr>
            </a:lvl1pPr>
          </a:lstStyle>
          <a:p>
            <a:pPr/>
            <a:r>
              <a:t>共同证明：我会主动找问题、做原型、验证和迭代。更多项目证据可扫码查看个人主页。</a:t>
            </a:r>
          </a:p>
        </p:txBody>
      </p:sp>
      <p:sp>
        <p:nvSpPr>
          <p:cNvPr id="216" name="Connector 42"/>
          <p:cNvSpPr/>
          <p:nvPr/>
        </p:nvSpPr>
        <p:spPr>
          <a:xfrm>
            <a:off x="566926" y="6419088"/>
            <a:ext cx="11064243" cy="2"/>
          </a:xfrm>
          <a:prstGeom prst="line">
            <a:avLst/>
          </a:prstGeom>
          <a:ln w="8890">
            <a:solidFill>
              <a:srgbClr val="D7DEE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7" name="TextBox 43"/>
          <p:cNvSpPr txBox="1"/>
          <p:nvPr/>
        </p:nvSpPr>
        <p:spPr>
          <a:xfrm>
            <a:off x="576070" y="6483096"/>
            <a:ext cx="5376676" cy="157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/>
          <a:p>
            <a:pPr>
              <a:lnSpc>
                <a:spcPct val="108000"/>
              </a:lnSpc>
              <a:defRPr sz="800">
                <a:solidFill>
                  <a:srgbClr val="606C7A"/>
                </a:solidFill>
              </a:defRPr>
            </a:pPr>
            <a:r>
              <a:t>齐恒 </a:t>
            </a:r>
            <a:r>
              <a:rPr>
                <a:latin typeface="PingFang SC Regular"/>
                <a:ea typeface="PingFang SC Regular"/>
                <a:cs typeface="PingFang SC Regular"/>
                <a:sym typeface="PingFang SC Regular"/>
              </a:rPr>
              <a:t>· </a:t>
            </a:r>
            <a:r>
              <a:t>东华大学物理学院 </a:t>
            </a:r>
            <a:r>
              <a:rPr>
                <a:latin typeface="PingFang SC Regular"/>
                <a:ea typeface="PingFang SC Regular"/>
                <a:cs typeface="PingFang SC Regular"/>
                <a:sym typeface="PingFang SC Regular"/>
              </a:rPr>
              <a:t>· </a:t>
            </a:r>
            <a:r>
              <a:t>应用物理学（新能源与微电子）</a:t>
            </a:r>
          </a:p>
        </p:txBody>
      </p:sp>
      <p:sp>
        <p:nvSpPr>
          <p:cNvPr id="218" name="TextBox 45"/>
          <p:cNvSpPr txBox="1"/>
          <p:nvPr/>
        </p:nvSpPr>
        <p:spPr>
          <a:xfrm>
            <a:off x="11045951" y="6483096"/>
            <a:ext cx="5852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r">
              <a:lnSpc>
                <a:spcPct val="108000"/>
              </a:lnSpc>
              <a:defRPr sz="800">
                <a:solidFill>
                  <a:srgbClr val="606C7A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pPr/>
            <a:r>
              <a:t>03/06</a:t>
            </a:r>
          </a:p>
        </p:txBody>
      </p:sp>
      <p:pic>
        <p:nvPicPr>
          <p:cNvPr id="219" name="已粘贴的影片.png" descr="已粘贴的影片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093892" y="2010155"/>
            <a:ext cx="2610327" cy="28185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"/>
          <p:cNvSpPr/>
          <p:nvPr/>
        </p:nvSpPr>
        <p:spPr>
          <a:xfrm>
            <a:off x="566927" y="393190"/>
            <a:ext cx="82298" cy="228602"/>
          </a:xfrm>
          <a:prstGeom prst="rect">
            <a:avLst/>
          </a:prstGeom>
          <a:solidFill>
            <a:srgbClr val="12758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2" name="TextBox 2"/>
          <p:cNvSpPr txBox="1"/>
          <p:nvPr/>
        </p:nvSpPr>
        <p:spPr>
          <a:xfrm>
            <a:off x="722375" y="347472"/>
            <a:ext cx="263347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800">
                <a:solidFill>
                  <a:srgbClr val="606C7A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SELF-DRIVEN EXPLORATION</a:t>
            </a:r>
          </a:p>
        </p:txBody>
      </p:sp>
      <p:sp>
        <p:nvSpPr>
          <p:cNvPr id="223" name="TextBox 3"/>
          <p:cNvSpPr txBox="1"/>
          <p:nvPr/>
        </p:nvSpPr>
        <p:spPr>
          <a:xfrm>
            <a:off x="10479023" y="347472"/>
            <a:ext cx="1152146" cy="183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r">
              <a:lnSpc>
                <a:spcPct val="108000"/>
              </a:lnSpc>
              <a:defRPr sz="900">
                <a:solidFill>
                  <a:srgbClr val="606C7A"/>
                </a:solidFill>
              </a:defRPr>
            </a:lvl1pPr>
          </a:lstStyle>
          <a:p>
            <a:pPr/>
            <a:r>
              <a:t>完整的我</a:t>
            </a:r>
          </a:p>
        </p:txBody>
      </p:sp>
      <p:sp>
        <p:nvSpPr>
          <p:cNvPr id="224" name="TextBox 4"/>
          <p:cNvSpPr txBox="1"/>
          <p:nvPr/>
        </p:nvSpPr>
        <p:spPr>
          <a:xfrm>
            <a:off x="576071" y="768095"/>
            <a:ext cx="8759954" cy="475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2500">
                <a:solidFill>
                  <a:srgbClr val="121B27"/>
                </a:solidFill>
              </a:defRPr>
            </a:lvl1pPr>
          </a:lstStyle>
          <a:p>
            <a:pPr/>
            <a:r>
              <a:t>独立远行训练了我面对未知时的推进方式</a:t>
            </a:r>
          </a:p>
        </p:txBody>
      </p:sp>
      <p:pic>
        <p:nvPicPr>
          <p:cNvPr id="225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8368" y="1901950"/>
            <a:ext cx="1682496" cy="1261874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42032" y="1901950"/>
            <a:ext cx="1682496" cy="1261874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425696" y="1901950"/>
            <a:ext cx="1682498" cy="1261874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Rounded Rectangle 9"/>
          <p:cNvSpPr/>
          <p:nvPr/>
        </p:nvSpPr>
        <p:spPr>
          <a:xfrm>
            <a:off x="658368" y="3364991"/>
            <a:ext cx="5440680" cy="171907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8E3E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9" name="TextBox 10"/>
          <p:cNvSpPr txBox="1"/>
          <p:nvPr/>
        </p:nvSpPr>
        <p:spPr>
          <a:xfrm>
            <a:off x="941830" y="3621023"/>
            <a:ext cx="2542035" cy="23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1200">
                <a:solidFill>
                  <a:srgbClr val="121B27"/>
                </a:solidFill>
              </a:defRPr>
            </a:lvl1pPr>
          </a:lstStyle>
          <a:p>
            <a:pPr/>
            <a:r>
              <a:t>旅行与徒步给我的训练</a:t>
            </a:r>
          </a:p>
        </p:txBody>
      </p:sp>
      <p:sp>
        <p:nvSpPr>
          <p:cNvPr id="230" name="Oval 11"/>
          <p:cNvSpPr/>
          <p:nvPr/>
        </p:nvSpPr>
        <p:spPr>
          <a:xfrm>
            <a:off x="941832" y="4087367"/>
            <a:ext cx="109731" cy="109731"/>
          </a:xfrm>
          <a:prstGeom prst="ellipse">
            <a:avLst/>
          </a:prstGeom>
          <a:solidFill>
            <a:srgbClr val="12758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1" name="TextBox 12"/>
          <p:cNvSpPr txBox="1"/>
          <p:nvPr/>
        </p:nvSpPr>
        <p:spPr>
          <a:xfrm>
            <a:off x="1152144" y="4032503"/>
            <a:ext cx="987551" cy="23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1200">
                <a:solidFill>
                  <a:srgbClr val="127584"/>
                </a:solidFill>
              </a:defRPr>
            </a:lvl1pPr>
          </a:lstStyle>
          <a:p>
            <a:pPr/>
            <a:r>
              <a:t>路线与预算</a:t>
            </a:r>
          </a:p>
        </p:txBody>
      </p:sp>
      <p:sp>
        <p:nvSpPr>
          <p:cNvPr id="232" name="TextBox 13"/>
          <p:cNvSpPr txBox="1"/>
          <p:nvPr/>
        </p:nvSpPr>
        <p:spPr>
          <a:xfrm>
            <a:off x="1993390" y="4032503"/>
            <a:ext cx="3502155" cy="23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1200">
                <a:solidFill>
                  <a:srgbClr val="606C7A"/>
                </a:solidFill>
              </a:defRPr>
            </a:lvl1pPr>
          </a:lstStyle>
          <a:p>
            <a:pPr/>
            <a:r>
              <a:t>把目标拆成路线、时间、装备、补给和预算。</a:t>
            </a:r>
          </a:p>
        </p:txBody>
      </p:sp>
      <p:sp>
        <p:nvSpPr>
          <p:cNvPr id="233" name="Oval 14"/>
          <p:cNvSpPr/>
          <p:nvPr/>
        </p:nvSpPr>
        <p:spPr>
          <a:xfrm>
            <a:off x="941832" y="4407406"/>
            <a:ext cx="109731" cy="109731"/>
          </a:xfrm>
          <a:prstGeom prst="ellipse">
            <a:avLst/>
          </a:prstGeom>
          <a:solidFill>
            <a:srgbClr val="4F805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4" name="TextBox 15"/>
          <p:cNvSpPr txBox="1"/>
          <p:nvPr/>
        </p:nvSpPr>
        <p:spPr>
          <a:xfrm>
            <a:off x="1152144" y="4352544"/>
            <a:ext cx="987551" cy="23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1200">
                <a:solidFill>
                  <a:srgbClr val="4F805E"/>
                </a:solidFill>
              </a:defRPr>
            </a:lvl1pPr>
          </a:lstStyle>
          <a:p>
            <a:pPr/>
            <a:r>
              <a:t>风险判断</a:t>
            </a:r>
          </a:p>
        </p:txBody>
      </p:sp>
      <p:sp>
        <p:nvSpPr>
          <p:cNvPr id="235" name="TextBox 16"/>
          <p:cNvSpPr txBox="1"/>
          <p:nvPr/>
        </p:nvSpPr>
        <p:spPr>
          <a:xfrm>
            <a:off x="1993390" y="4352544"/>
            <a:ext cx="3502155" cy="23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1200">
                <a:solidFill>
                  <a:srgbClr val="606C7A"/>
                </a:solidFill>
              </a:defRPr>
            </a:lvl1pPr>
          </a:lstStyle>
          <a:p>
            <a:pPr/>
            <a:r>
              <a:t>在天气、迷路、设备和语言环境变化中快速决策。</a:t>
            </a:r>
          </a:p>
        </p:txBody>
      </p:sp>
      <p:sp>
        <p:nvSpPr>
          <p:cNvPr id="236" name="Oval 17"/>
          <p:cNvSpPr/>
          <p:nvPr/>
        </p:nvSpPr>
        <p:spPr>
          <a:xfrm>
            <a:off x="941832" y="4727447"/>
            <a:ext cx="109731" cy="109731"/>
          </a:xfrm>
          <a:prstGeom prst="ellipse">
            <a:avLst/>
          </a:prstGeom>
          <a:solidFill>
            <a:srgbClr val="C4843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2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7" name="TextBox 18"/>
          <p:cNvSpPr txBox="1"/>
          <p:nvPr/>
        </p:nvSpPr>
        <p:spPr>
          <a:xfrm>
            <a:off x="1152144" y="4672584"/>
            <a:ext cx="987551" cy="23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1200">
                <a:solidFill>
                  <a:srgbClr val="C48436"/>
                </a:solidFill>
              </a:defRPr>
            </a:lvl1pPr>
          </a:lstStyle>
          <a:p>
            <a:pPr/>
            <a:r>
              <a:t>复盘迭代</a:t>
            </a:r>
          </a:p>
        </p:txBody>
      </p:sp>
      <p:sp>
        <p:nvSpPr>
          <p:cNvPr id="238" name="TextBox 19"/>
          <p:cNvSpPr txBox="1"/>
          <p:nvPr/>
        </p:nvSpPr>
        <p:spPr>
          <a:xfrm>
            <a:off x="1993390" y="4672584"/>
            <a:ext cx="3502155" cy="234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1200">
                <a:solidFill>
                  <a:srgbClr val="606C7A"/>
                </a:solidFill>
              </a:defRPr>
            </a:lvl1pPr>
          </a:lstStyle>
          <a:p>
            <a:pPr/>
            <a:r>
              <a:t>把一次次问题转化为下一次更可靠的方案。</a:t>
            </a:r>
          </a:p>
        </p:txBody>
      </p:sp>
      <p:sp>
        <p:nvSpPr>
          <p:cNvPr id="239" name="Rounded Rectangle 20"/>
          <p:cNvSpPr/>
          <p:nvPr/>
        </p:nvSpPr>
        <p:spPr>
          <a:xfrm>
            <a:off x="6576948" y="1948688"/>
            <a:ext cx="4983482" cy="3218690"/>
          </a:xfrm>
          <a:prstGeom prst="roundRect">
            <a:avLst>
              <a:gd name="adj" fmla="val 16667"/>
            </a:avLst>
          </a:prstGeom>
          <a:solidFill>
            <a:srgbClr val="EDF5F5"/>
          </a:solidFill>
          <a:ln w="8890">
            <a:solidFill>
              <a:srgbClr val="C9DCD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0" name="TextBox 21"/>
          <p:cNvSpPr txBox="1"/>
          <p:nvPr/>
        </p:nvSpPr>
        <p:spPr>
          <a:xfrm>
            <a:off x="6803135" y="2212848"/>
            <a:ext cx="1627634" cy="272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1400">
                <a:solidFill>
                  <a:srgbClr val="127584"/>
                </a:solidFill>
              </a:defRPr>
            </a:lvl1pPr>
          </a:lstStyle>
          <a:p>
            <a:pPr/>
            <a:r>
              <a:t>迁移到科研训练</a:t>
            </a:r>
          </a:p>
        </p:txBody>
      </p:sp>
      <p:sp>
        <p:nvSpPr>
          <p:cNvPr id="241" name="TextBox 22"/>
          <p:cNvSpPr txBox="1"/>
          <p:nvPr/>
        </p:nvSpPr>
        <p:spPr>
          <a:xfrm>
            <a:off x="6803135" y="2633472"/>
            <a:ext cx="3986785" cy="583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12000"/>
              </a:lnSpc>
              <a:defRPr b="1" sz="1500">
                <a:solidFill>
                  <a:srgbClr val="121B27"/>
                </a:solidFill>
              </a:defRPr>
            </a:lvl1pPr>
          </a:lstStyle>
          <a:p>
            <a:pPr/>
            <a:r>
              <a:t>我现在的项目也沿用同一种方式：先做出可运行版本，再暴露问题、补齐知识、继续迭代。</a:t>
            </a:r>
          </a:p>
        </p:txBody>
      </p:sp>
      <p:sp>
        <p:nvSpPr>
          <p:cNvPr id="242" name="TextBox 23"/>
          <p:cNvSpPr txBox="1"/>
          <p:nvPr/>
        </p:nvSpPr>
        <p:spPr>
          <a:xfrm>
            <a:off x="6848854" y="3456432"/>
            <a:ext cx="292610" cy="153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1100">
                <a:solidFill>
                  <a:srgbClr val="127584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43" name="TextBox 24"/>
          <p:cNvSpPr txBox="1"/>
          <p:nvPr/>
        </p:nvSpPr>
        <p:spPr>
          <a:xfrm>
            <a:off x="7251190" y="3447288"/>
            <a:ext cx="621794" cy="221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1100">
                <a:solidFill>
                  <a:srgbClr val="121B27"/>
                </a:solidFill>
              </a:defRPr>
            </a:lvl1pPr>
          </a:lstStyle>
          <a:p>
            <a:pPr/>
            <a:r>
              <a:t>不确定</a:t>
            </a:r>
          </a:p>
        </p:txBody>
      </p:sp>
      <p:sp>
        <p:nvSpPr>
          <p:cNvPr id="244" name="TextBox 25"/>
          <p:cNvSpPr txBox="1"/>
          <p:nvPr/>
        </p:nvSpPr>
        <p:spPr>
          <a:xfrm>
            <a:off x="7891270" y="3447288"/>
            <a:ext cx="3200402" cy="440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1100">
                <a:solidFill>
                  <a:srgbClr val="606C7A"/>
                </a:solidFill>
              </a:defRPr>
            </a:lvl1pPr>
          </a:lstStyle>
          <a:p>
            <a:pPr/>
            <a:r>
              <a:t>方向未完全收敛，但主动调研、联系老师、比较课题组。</a:t>
            </a:r>
          </a:p>
        </p:txBody>
      </p:sp>
      <p:sp>
        <p:nvSpPr>
          <p:cNvPr id="245" name="TextBox 26"/>
          <p:cNvSpPr txBox="1"/>
          <p:nvPr/>
        </p:nvSpPr>
        <p:spPr>
          <a:xfrm>
            <a:off x="6848854" y="3931920"/>
            <a:ext cx="292610" cy="153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1100">
                <a:solidFill>
                  <a:srgbClr val="127584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46" name="TextBox 27"/>
          <p:cNvSpPr txBox="1"/>
          <p:nvPr/>
        </p:nvSpPr>
        <p:spPr>
          <a:xfrm>
            <a:off x="7251190" y="3922776"/>
            <a:ext cx="621794" cy="221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1100">
                <a:solidFill>
                  <a:srgbClr val="121B27"/>
                </a:solidFill>
              </a:defRPr>
            </a:lvl1pPr>
          </a:lstStyle>
          <a:p>
            <a:pPr/>
            <a:r>
              <a:t>可执行</a:t>
            </a:r>
          </a:p>
        </p:txBody>
      </p:sp>
      <p:sp>
        <p:nvSpPr>
          <p:cNvPr id="247" name="TextBox 28"/>
          <p:cNvSpPr txBox="1"/>
          <p:nvPr/>
        </p:nvSpPr>
        <p:spPr>
          <a:xfrm>
            <a:off x="7891270" y="3922776"/>
            <a:ext cx="3200402" cy="221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1100">
                <a:solidFill>
                  <a:srgbClr val="606C7A"/>
                </a:solidFill>
              </a:defRPr>
            </a:lvl1pPr>
          </a:lstStyle>
          <a:p>
            <a:pPr/>
            <a:r>
              <a:t>把模糊兴趣拆成公式、代码、图像和测试。</a:t>
            </a:r>
          </a:p>
        </p:txBody>
      </p:sp>
      <p:sp>
        <p:nvSpPr>
          <p:cNvPr id="248" name="TextBox 29"/>
          <p:cNvSpPr txBox="1"/>
          <p:nvPr/>
        </p:nvSpPr>
        <p:spPr>
          <a:xfrm>
            <a:off x="6848854" y="4407408"/>
            <a:ext cx="292610" cy="153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sz="1100">
                <a:solidFill>
                  <a:srgbClr val="127584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49" name="TextBox 30"/>
          <p:cNvSpPr txBox="1"/>
          <p:nvPr/>
        </p:nvSpPr>
        <p:spPr>
          <a:xfrm>
            <a:off x="7251190" y="4398264"/>
            <a:ext cx="621794" cy="221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>
              <a:lnSpc>
                <a:spcPct val="108000"/>
              </a:lnSpc>
              <a:defRPr b="1" sz="1100">
                <a:solidFill>
                  <a:srgbClr val="121B27"/>
                </a:solidFill>
              </a:defRPr>
            </a:lvl1pPr>
          </a:lstStyle>
          <a:p>
            <a:pPr/>
            <a:r>
              <a:t>可复盘</a:t>
            </a:r>
          </a:p>
        </p:txBody>
      </p:sp>
      <p:sp>
        <p:nvSpPr>
          <p:cNvPr id="250" name="TextBox 31"/>
          <p:cNvSpPr txBox="1"/>
          <p:nvPr/>
        </p:nvSpPr>
        <p:spPr>
          <a:xfrm>
            <a:off x="7891270" y="4398264"/>
            <a:ext cx="3200402" cy="440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/>
          <a:p>
            <a:pPr>
              <a:lnSpc>
                <a:spcPct val="108000"/>
              </a:lnSpc>
              <a:defRPr sz="1100">
                <a:solidFill>
                  <a:srgbClr val="606C7A"/>
                </a:solidFill>
              </a:defRPr>
            </a:pPr>
            <a:r>
              <a:t>用网页、</a:t>
            </a:r>
            <a:r>
              <a:rPr>
                <a:latin typeface="PingFang SC Regular"/>
                <a:ea typeface="PingFang SC Regular"/>
                <a:cs typeface="PingFang SC Regular"/>
                <a:sym typeface="PingFang SC Regular"/>
              </a:rPr>
              <a:t>GitHub</a:t>
            </a:r>
            <a:r>
              <a:t>、文档保存过程，而不是只留下结果。</a:t>
            </a:r>
          </a:p>
        </p:txBody>
      </p:sp>
      <p:sp>
        <p:nvSpPr>
          <p:cNvPr id="251" name="TextBox 32"/>
          <p:cNvSpPr txBox="1"/>
          <p:nvPr/>
        </p:nvSpPr>
        <p:spPr>
          <a:xfrm>
            <a:off x="923543" y="5532120"/>
            <a:ext cx="10314435" cy="284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/>
          <a:p>
            <a:pPr algn="ctr">
              <a:lnSpc>
                <a:spcPct val="108000"/>
              </a:lnSpc>
              <a:defRPr b="1" sz="1500">
                <a:solidFill>
                  <a:srgbClr val="121B27"/>
                </a:solidFill>
              </a:defRPr>
            </a:pPr>
            <a:r>
              <a:t>关键词：自驱探索 </a:t>
            </a:r>
            <a:r>
              <a:rPr b="0">
                <a:latin typeface="PingFang SC Semibold"/>
                <a:ea typeface="PingFang SC Semibold"/>
                <a:cs typeface="PingFang SC Semibold"/>
                <a:sym typeface="PingFang SC Semibold"/>
              </a:rPr>
              <a:t>/ </a:t>
            </a:r>
            <a:r>
              <a:t>独立规划  </a:t>
            </a:r>
            <a:r>
              <a:rPr b="0">
                <a:latin typeface="PingFang SC Semibold"/>
                <a:ea typeface="PingFang SC Semibold"/>
                <a:cs typeface="PingFang SC Semibold"/>
                <a:sym typeface="PingFang SC Semibold"/>
              </a:rPr>
              <a:t>/ </a:t>
            </a:r>
            <a:r>
              <a:t>持续迭代</a:t>
            </a:r>
          </a:p>
        </p:txBody>
      </p:sp>
      <p:sp>
        <p:nvSpPr>
          <p:cNvPr id="252" name="Connector 33"/>
          <p:cNvSpPr/>
          <p:nvPr/>
        </p:nvSpPr>
        <p:spPr>
          <a:xfrm>
            <a:off x="566926" y="6419088"/>
            <a:ext cx="11064243" cy="2"/>
          </a:xfrm>
          <a:prstGeom prst="line">
            <a:avLst/>
          </a:prstGeom>
          <a:ln w="8890">
            <a:solidFill>
              <a:srgbClr val="D7DEE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3" name="TextBox 34"/>
          <p:cNvSpPr txBox="1"/>
          <p:nvPr/>
        </p:nvSpPr>
        <p:spPr>
          <a:xfrm>
            <a:off x="576070" y="6483096"/>
            <a:ext cx="5376676" cy="157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/>
          <a:p>
            <a:pPr>
              <a:lnSpc>
                <a:spcPct val="108000"/>
              </a:lnSpc>
              <a:defRPr sz="800">
                <a:solidFill>
                  <a:srgbClr val="606C7A"/>
                </a:solidFill>
              </a:defRPr>
            </a:pPr>
            <a:r>
              <a:t>齐恒 </a:t>
            </a:r>
            <a:r>
              <a:rPr>
                <a:latin typeface="PingFang SC Regular"/>
                <a:ea typeface="PingFang SC Regular"/>
                <a:cs typeface="PingFang SC Regular"/>
                <a:sym typeface="PingFang SC Regular"/>
              </a:rPr>
              <a:t>· </a:t>
            </a:r>
            <a:r>
              <a:t>东华大学物理学院 </a:t>
            </a:r>
            <a:r>
              <a:rPr>
                <a:latin typeface="PingFang SC Regular"/>
                <a:ea typeface="PingFang SC Regular"/>
                <a:cs typeface="PingFang SC Regular"/>
                <a:sym typeface="PingFang SC Regular"/>
              </a:rPr>
              <a:t>· </a:t>
            </a:r>
            <a:r>
              <a:t>应用物理学（新能源与微电子）</a:t>
            </a:r>
          </a:p>
        </p:txBody>
      </p:sp>
      <p:sp>
        <p:nvSpPr>
          <p:cNvPr id="254" name="TextBox 36"/>
          <p:cNvSpPr txBox="1"/>
          <p:nvPr/>
        </p:nvSpPr>
        <p:spPr>
          <a:xfrm>
            <a:off x="11045951" y="6483096"/>
            <a:ext cx="5852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4" tIns="9144" rIns="9144" bIns="9144">
            <a:spAutoFit/>
          </a:bodyPr>
          <a:lstStyle>
            <a:lvl1pPr algn="r">
              <a:lnSpc>
                <a:spcPct val="108000"/>
              </a:lnSpc>
              <a:defRPr sz="800">
                <a:solidFill>
                  <a:srgbClr val="606C7A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pPr/>
            <a:r>
              <a:t>04/06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