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12" name="正文级别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21" name="正文级别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文本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标题文本</a:t>
            </a:r>
          </a:p>
        </p:txBody>
      </p:sp>
      <p:sp>
        <p:nvSpPr>
          <p:cNvPr id="30" name="正文级别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3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标题文本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39" name="正文级别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48" name="正文级别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文本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5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标题文本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标题文本</a:t>
            </a:r>
          </a:p>
        </p:txBody>
      </p:sp>
      <p:sp>
        <p:nvSpPr>
          <p:cNvPr id="73" name="正文级别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文本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标题文本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正文级别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599432"/>
            <a:ext cx="12192000" cy="2258568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Rounded Rectangle 2"/>
          <p:cNvSpPr/>
          <p:nvPr/>
        </p:nvSpPr>
        <p:spPr>
          <a:xfrm>
            <a:off x="8101583" y="658368"/>
            <a:ext cx="3419856" cy="537667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96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613647" y="987552"/>
            <a:ext cx="2395729" cy="2395729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4"/>
          <p:cNvSpPr txBox="1"/>
          <p:nvPr/>
        </p:nvSpPr>
        <p:spPr>
          <a:xfrm>
            <a:off x="8403336" y="3639311"/>
            <a:ext cx="2798065" cy="437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24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齐恒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8385048" y="4105655"/>
            <a:ext cx="2816353" cy="388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 algn="ctr">
              <a:lnSpc>
                <a:spcPct val="108000"/>
              </a:lnSpc>
              <a:defRPr sz="1000">
                <a:solidFill>
                  <a:srgbClr val="2A3440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东华大学物理学院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algn="ctr">
              <a:lnSpc>
                <a:spcPct val="108000"/>
              </a:lnSpc>
              <a:defRPr sz="1000">
                <a:solidFill>
                  <a:srgbClr val="2A3440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应用物理学（新能源与微电子）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10570463" y="877824"/>
            <a:ext cx="420625" cy="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0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A5</a:t>
            </a:r>
          </a:p>
        </p:txBody>
      </p:sp>
      <p:sp>
        <p:nvSpPr>
          <p:cNvPr id="100" name="Rounded Rectangle 7"/>
          <p:cNvSpPr/>
          <p:nvPr/>
        </p:nvSpPr>
        <p:spPr>
          <a:xfrm>
            <a:off x="8321040" y="4791455"/>
            <a:ext cx="1508761" cy="310897"/>
          </a:xfrm>
          <a:prstGeom prst="roundRect">
            <a:avLst>
              <a:gd name="adj" fmla="val 16667"/>
            </a:avLst>
          </a:prstGeom>
          <a:solidFill>
            <a:srgbClr val="EEF7F8"/>
          </a:solidFill>
          <a:ln w="10160">
            <a:solidFill>
              <a:srgbClr val="12758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8"/>
          <p:cNvSpPr txBox="1"/>
          <p:nvPr/>
        </p:nvSpPr>
        <p:spPr>
          <a:xfrm>
            <a:off x="8403336" y="4873752"/>
            <a:ext cx="1344169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900">
                <a:solidFill>
                  <a:srgbClr val="127584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GPA 3.91/5.00</a:t>
            </a:r>
          </a:p>
        </p:txBody>
      </p:sp>
      <p:sp>
        <p:nvSpPr>
          <p:cNvPr id="102" name="Rounded Rectangle 9"/>
          <p:cNvSpPr/>
          <p:nvPr/>
        </p:nvSpPr>
        <p:spPr>
          <a:xfrm>
            <a:off x="9976104" y="4791455"/>
            <a:ext cx="1225297" cy="310897"/>
          </a:xfrm>
          <a:prstGeom prst="roundRect">
            <a:avLst>
              <a:gd name="adj" fmla="val 16667"/>
            </a:avLst>
          </a:prstGeom>
          <a:solidFill>
            <a:srgbClr val="EEF6F0"/>
          </a:solidFill>
          <a:ln w="10160">
            <a:solidFill>
              <a:srgbClr val="4F805E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TextBox 10"/>
          <p:cNvSpPr txBox="1"/>
          <p:nvPr/>
        </p:nvSpPr>
        <p:spPr>
          <a:xfrm>
            <a:off x="10058400" y="4873752"/>
            <a:ext cx="106070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900">
                <a:solidFill>
                  <a:srgbClr val="4F805E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Rank 5/65</a:t>
            </a:r>
          </a:p>
        </p:txBody>
      </p:sp>
      <p:sp>
        <p:nvSpPr>
          <p:cNvPr id="104" name="Rounded Rectangle 11"/>
          <p:cNvSpPr/>
          <p:nvPr/>
        </p:nvSpPr>
        <p:spPr>
          <a:xfrm>
            <a:off x="8412480" y="5266944"/>
            <a:ext cx="804673" cy="804673"/>
          </a:xfrm>
          <a:prstGeom prst="roundRect">
            <a:avLst>
              <a:gd name="adj" fmla="val 16667"/>
            </a:avLst>
          </a:prstGeom>
          <a:solidFill>
            <a:srgbClr val="EFF7F8"/>
          </a:solidFill>
          <a:ln w="8890">
            <a:solidFill>
              <a:srgbClr val="C8DDE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05" name="Picture 12" descr="Picture 1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467343" y="5321806"/>
            <a:ext cx="694945" cy="694945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TextBox 13"/>
          <p:cNvSpPr txBox="1"/>
          <p:nvPr/>
        </p:nvSpPr>
        <p:spPr>
          <a:xfrm>
            <a:off x="8330184" y="6126479"/>
            <a:ext cx="98755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8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扫码看个人主页</a:t>
            </a:r>
          </a:p>
        </p:txBody>
      </p:sp>
      <p:sp>
        <p:nvSpPr>
          <p:cNvPr id="107" name="TextBox 14"/>
          <p:cNvSpPr txBox="1"/>
          <p:nvPr/>
        </p:nvSpPr>
        <p:spPr>
          <a:xfrm>
            <a:off x="9317736" y="5422391"/>
            <a:ext cx="17190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hengqi61-maker.github.io</a:t>
            </a:r>
          </a:p>
        </p:txBody>
      </p:sp>
      <p:sp>
        <p:nvSpPr>
          <p:cNvPr id="108" name="TextBox 15"/>
          <p:cNvSpPr txBox="1"/>
          <p:nvPr/>
        </p:nvSpPr>
        <p:spPr>
          <a:xfrm>
            <a:off x="9317736" y="5678423"/>
            <a:ext cx="1682497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项目入口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个人经历 </a:t>
            </a:r>
            <a:r>
              <a:t>· GitHub</a:t>
            </a:r>
          </a:p>
        </p:txBody>
      </p:sp>
      <p:sp>
        <p:nvSpPr>
          <p:cNvPr id="109" name="Rectangle 16"/>
          <p:cNvSpPr/>
          <p:nvPr/>
        </p:nvSpPr>
        <p:spPr>
          <a:xfrm>
            <a:off x="566927" y="393191"/>
            <a:ext cx="82297" cy="228601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0" name="TextBox 17"/>
          <p:cNvSpPr txBox="1"/>
          <p:nvPr/>
        </p:nvSpPr>
        <p:spPr>
          <a:xfrm>
            <a:off x="722375" y="347472"/>
            <a:ext cx="26334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WESTLAKE SCIENCE SUMMER CAMP</a:t>
            </a:r>
          </a:p>
        </p:txBody>
      </p:sp>
      <p:sp>
        <p:nvSpPr>
          <p:cNvPr id="111" name="TextBox 18"/>
          <p:cNvSpPr txBox="1"/>
          <p:nvPr/>
        </p:nvSpPr>
        <p:spPr>
          <a:xfrm>
            <a:off x="10479024" y="347472"/>
            <a:ext cx="115214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个人成果汇报</a:t>
            </a:r>
          </a:p>
        </p:txBody>
      </p:sp>
      <p:sp>
        <p:nvSpPr>
          <p:cNvPr id="112" name="TextBox 19"/>
          <p:cNvSpPr txBox="1"/>
          <p:nvPr/>
        </p:nvSpPr>
        <p:spPr>
          <a:xfrm>
            <a:off x="576071" y="941832"/>
            <a:ext cx="4187954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西湖大学理学院夏令营</a:t>
            </a:r>
          </a:p>
        </p:txBody>
      </p:sp>
      <p:sp>
        <p:nvSpPr>
          <p:cNvPr id="113" name="TextBox 20"/>
          <p:cNvSpPr txBox="1"/>
          <p:nvPr/>
        </p:nvSpPr>
        <p:spPr>
          <a:xfrm>
            <a:off x="576071" y="1481328"/>
            <a:ext cx="6473954" cy="12679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4999"/>
              </a:lnSpc>
              <a:defRPr sz="3400">
                <a:solidFill>
                  <a:srgbClr val="121B27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从物理问题到</a:t>
            </a:r>
            <a:endParaRPr b="1"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104999"/>
              </a:lnSpc>
              <a:defRPr sz="3400">
                <a:solidFill>
                  <a:srgbClr val="121B27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rPr>
              <a:t>可复现计算系统</a:t>
            </a:r>
          </a:p>
        </p:txBody>
      </p:sp>
      <p:sp>
        <p:nvSpPr>
          <p:cNvPr id="114" name="TextBox 21"/>
          <p:cNvSpPr txBox="1"/>
          <p:nvPr/>
        </p:nvSpPr>
        <p:spPr>
          <a:xfrm>
            <a:off x="612647" y="3246120"/>
            <a:ext cx="4645154" cy="272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400">
                <a:solidFill>
                  <a:srgbClr val="2A344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个人学术背景与博士阶段科研计划</a:t>
            </a:r>
          </a:p>
        </p:txBody>
      </p:sp>
      <p:sp>
        <p:nvSpPr>
          <p:cNvPr id="115" name="Rounded Rectangle 22"/>
          <p:cNvSpPr/>
          <p:nvPr/>
        </p:nvSpPr>
        <p:spPr>
          <a:xfrm>
            <a:off x="621791" y="3858767"/>
            <a:ext cx="6181346" cy="530353"/>
          </a:xfrm>
          <a:prstGeom prst="roundRect">
            <a:avLst>
              <a:gd name="adj" fmla="val 16667"/>
            </a:avLst>
          </a:prstGeom>
          <a:solidFill>
            <a:srgbClr val="EDF5F5"/>
          </a:solidFill>
          <a:ln w="8890">
            <a:solidFill>
              <a:srgbClr val="C9DCD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23"/>
          <p:cNvSpPr txBox="1"/>
          <p:nvPr/>
        </p:nvSpPr>
        <p:spPr>
          <a:xfrm>
            <a:off x="859535" y="4041647"/>
            <a:ext cx="569671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1100">
                <a:solidFill>
                  <a:srgbClr val="127584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主线：物理模型理解  </a:t>
            </a:r>
            <a:r>
              <a:t>-&gt;  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数值模拟与可视化  </a:t>
            </a:r>
            <a:r>
              <a:t>-&gt;  AI for Science 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工作流</a:t>
            </a:r>
          </a:p>
        </p:txBody>
      </p:sp>
      <p:sp>
        <p:nvSpPr>
          <p:cNvPr id="117" name="TextBox 24"/>
          <p:cNvSpPr txBox="1"/>
          <p:nvPr/>
        </p:nvSpPr>
        <p:spPr>
          <a:xfrm>
            <a:off x="612648" y="6236208"/>
            <a:ext cx="5193792" cy="129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9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lvl1pPr>
          </a:lstStyle>
          <a:p>
            <a:pPr/>
            <a:r>
              <a:t>2026.07 · Westlake University School of Science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566927" y="393191"/>
            <a:ext cx="82297" cy="228601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2"/>
          <p:cNvSpPr txBox="1"/>
          <p:nvPr/>
        </p:nvSpPr>
        <p:spPr>
          <a:xfrm>
            <a:off x="722375" y="347472"/>
            <a:ext cx="26334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ACADEMIC BASE</a:t>
            </a:r>
          </a:p>
        </p:txBody>
      </p:sp>
      <p:sp>
        <p:nvSpPr>
          <p:cNvPr id="121" name="TextBox 3"/>
          <p:cNvSpPr txBox="1"/>
          <p:nvPr/>
        </p:nvSpPr>
        <p:spPr>
          <a:xfrm>
            <a:off x="10479024" y="347472"/>
            <a:ext cx="115214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学术背景</a:t>
            </a:r>
          </a:p>
        </p:txBody>
      </p:sp>
      <p:sp>
        <p:nvSpPr>
          <p:cNvPr id="122" name="TextBox 4"/>
          <p:cNvSpPr txBox="1"/>
          <p:nvPr/>
        </p:nvSpPr>
        <p:spPr>
          <a:xfrm>
            <a:off x="576071" y="768096"/>
            <a:ext cx="8759954" cy="475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25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物理与数学课程构成后续计算训练的底座</a:t>
            </a:r>
          </a:p>
        </p:txBody>
      </p:sp>
      <p:sp>
        <p:nvSpPr>
          <p:cNvPr id="123" name="Rounded Rectangle 6"/>
          <p:cNvSpPr/>
          <p:nvPr/>
        </p:nvSpPr>
        <p:spPr>
          <a:xfrm>
            <a:off x="658368" y="1874518"/>
            <a:ext cx="1572768" cy="84124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5E2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7"/>
          <p:cNvSpPr txBox="1"/>
          <p:nvPr/>
        </p:nvSpPr>
        <p:spPr>
          <a:xfrm>
            <a:off x="813815" y="1993390"/>
            <a:ext cx="1261874" cy="289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21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3.91</a:t>
            </a:r>
          </a:p>
        </p:txBody>
      </p:sp>
      <p:sp>
        <p:nvSpPr>
          <p:cNvPr id="125" name="TextBox 8"/>
          <p:cNvSpPr txBox="1"/>
          <p:nvPr/>
        </p:nvSpPr>
        <p:spPr>
          <a:xfrm>
            <a:off x="813815" y="2359151"/>
            <a:ext cx="1261874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GPA / 5.00</a:t>
            </a:r>
          </a:p>
        </p:txBody>
      </p:sp>
      <p:sp>
        <p:nvSpPr>
          <p:cNvPr id="126" name="Rounded Rectangle 9"/>
          <p:cNvSpPr/>
          <p:nvPr/>
        </p:nvSpPr>
        <p:spPr>
          <a:xfrm>
            <a:off x="2432304" y="1874518"/>
            <a:ext cx="1572769" cy="84124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5E2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10"/>
          <p:cNvSpPr txBox="1"/>
          <p:nvPr/>
        </p:nvSpPr>
        <p:spPr>
          <a:xfrm>
            <a:off x="2587751" y="1993390"/>
            <a:ext cx="1261873" cy="289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2100">
                <a:solidFill>
                  <a:srgbClr val="4F805E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89.1</a:t>
            </a:r>
          </a:p>
        </p:txBody>
      </p:sp>
      <p:sp>
        <p:nvSpPr>
          <p:cNvPr id="128" name="TextBox 11"/>
          <p:cNvSpPr txBox="1"/>
          <p:nvPr/>
        </p:nvSpPr>
        <p:spPr>
          <a:xfrm>
            <a:off x="2587751" y="2359151"/>
            <a:ext cx="1261873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百分制均分</a:t>
            </a:r>
          </a:p>
        </p:txBody>
      </p:sp>
      <p:sp>
        <p:nvSpPr>
          <p:cNvPr id="129" name="Rounded Rectangle 12"/>
          <p:cNvSpPr/>
          <p:nvPr/>
        </p:nvSpPr>
        <p:spPr>
          <a:xfrm>
            <a:off x="4206240" y="1874518"/>
            <a:ext cx="1755649" cy="84124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5E2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13"/>
          <p:cNvSpPr txBox="1"/>
          <p:nvPr/>
        </p:nvSpPr>
        <p:spPr>
          <a:xfrm>
            <a:off x="4361688" y="1993390"/>
            <a:ext cx="1444752" cy="289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2100">
                <a:solidFill>
                  <a:srgbClr val="C48436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5 / 65</a:t>
            </a:r>
          </a:p>
        </p:txBody>
      </p:sp>
      <p:sp>
        <p:nvSpPr>
          <p:cNvPr id="131" name="TextBox 14"/>
          <p:cNvSpPr txBox="1"/>
          <p:nvPr/>
        </p:nvSpPr>
        <p:spPr>
          <a:xfrm>
            <a:off x="4361688" y="2359151"/>
            <a:ext cx="144475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专业排名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前 </a:t>
            </a:r>
            <a:r>
              <a:t>7.7%</a:t>
            </a:r>
          </a:p>
        </p:txBody>
      </p:sp>
      <p:sp>
        <p:nvSpPr>
          <p:cNvPr id="132" name="Rounded Rectangle 15"/>
          <p:cNvSpPr/>
          <p:nvPr/>
        </p:nvSpPr>
        <p:spPr>
          <a:xfrm>
            <a:off x="6163055" y="1874518"/>
            <a:ext cx="1389890" cy="84124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5E2E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3" name="TextBox 16"/>
          <p:cNvSpPr txBox="1"/>
          <p:nvPr/>
        </p:nvSpPr>
        <p:spPr>
          <a:xfrm>
            <a:off x="6318503" y="1993390"/>
            <a:ext cx="1078993" cy="289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2100">
                <a:solidFill>
                  <a:srgbClr val="665080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551</a:t>
            </a:r>
          </a:p>
        </p:txBody>
      </p:sp>
      <p:sp>
        <p:nvSpPr>
          <p:cNvPr id="134" name="TextBox 17"/>
          <p:cNvSpPr txBox="1"/>
          <p:nvPr/>
        </p:nvSpPr>
        <p:spPr>
          <a:xfrm>
            <a:off x="6318503" y="2359151"/>
            <a:ext cx="10789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CET-6</a:t>
            </a:r>
          </a:p>
        </p:txBody>
      </p:sp>
      <p:sp>
        <p:nvSpPr>
          <p:cNvPr id="135" name="Rounded Rectangle 18"/>
          <p:cNvSpPr/>
          <p:nvPr/>
        </p:nvSpPr>
        <p:spPr>
          <a:xfrm>
            <a:off x="8750807" y="1746630"/>
            <a:ext cx="2468881" cy="2816353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7DEE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36" name="TextBox 19"/>
          <p:cNvSpPr txBox="1"/>
          <p:nvPr/>
        </p:nvSpPr>
        <p:spPr>
          <a:xfrm>
            <a:off x="8951975" y="2011679"/>
            <a:ext cx="896113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9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核心课程</a:t>
            </a:r>
          </a:p>
        </p:txBody>
      </p:sp>
      <p:sp>
        <p:nvSpPr>
          <p:cNvPr id="137" name="TextBox 20"/>
          <p:cNvSpPr txBox="1"/>
          <p:nvPr/>
        </p:nvSpPr>
        <p:spPr>
          <a:xfrm>
            <a:off x="8951975" y="2363723"/>
            <a:ext cx="749809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经典力学</a:t>
            </a:r>
          </a:p>
        </p:txBody>
      </p:sp>
      <p:sp>
        <p:nvSpPr>
          <p:cNvPr id="138" name="Rectangle 21"/>
          <p:cNvSpPr/>
          <p:nvPr/>
        </p:nvSpPr>
        <p:spPr>
          <a:xfrm>
            <a:off x="9765792" y="2427732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39" name="Rectangle 22"/>
          <p:cNvSpPr/>
          <p:nvPr/>
        </p:nvSpPr>
        <p:spPr>
          <a:xfrm>
            <a:off x="9765792" y="2427732"/>
            <a:ext cx="914401" cy="64009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3"/>
          <p:cNvSpPr txBox="1"/>
          <p:nvPr/>
        </p:nvSpPr>
        <p:spPr>
          <a:xfrm>
            <a:off x="10730483" y="2388996"/>
            <a:ext cx="310897" cy="141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100</a:t>
            </a:r>
          </a:p>
        </p:txBody>
      </p:sp>
      <p:sp>
        <p:nvSpPr>
          <p:cNvPr id="141" name="TextBox 24"/>
          <p:cNvSpPr txBox="1"/>
          <p:nvPr/>
        </p:nvSpPr>
        <p:spPr>
          <a:xfrm>
            <a:off x="8951975" y="2610611"/>
            <a:ext cx="749809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光学</a:t>
            </a:r>
          </a:p>
        </p:txBody>
      </p:sp>
      <p:sp>
        <p:nvSpPr>
          <p:cNvPr id="142" name="Rectangle 25"/>
          <p:cNvSpPr/>
          <p:nvPr/>
        </p:nvSpPr>
        <p:spPr>
          <a:xfrm>
            <a:off x="9765792" y="2674620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26"/>
          <p:cNvSpPr/>
          <p:nvPr/>
        </p:nvSpPr>
        <p:spPr>
          <a:xfrm>
            <a:off x="9765792" y="2674620"/>
            <a:ext cx="905257" cy="64009"/>
          </a:xfrm>
          <a:prstGeom prst="rect">
            <a:avLst/>
          </a:prstGeom>
          <a:solidFill>
            <a:srgbClr val="27978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44" name="TextBox 27"/>
          <p:cNvSpPr txBox="1"/>
          <p:nvPr/>
        </p:nvSpPr>
        <p:spPr>
          <a:xfrm>
            <a:off x="10780775" y="2637726"/>
            <a:ext cx="210313" cy="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279789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99</a:t>
            </a:r>
          </a:p>
        </p:txBody>
      </p:sp>
      <p:sp>
        <p:nvSpPr>
          <p:cNvPr id="145" name="TextBox 28"/>
          <p:cNvSpPr txBox="1"/>
          <p:nvPr/>
        </p:nvSpPr>
        <p:spPr>
          <a:xfrm>
            <a:off x="8951975" y="2857499"/>
            <a:ext cx="749809" cy="1833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数学物理方法</a:t>
            </a:r>
          </a:p>
        </p:txBody>
      </p:sp>
      <p:sp>
        <p:nvSpPr>
          <p:cNvPr id="146" name="Rectangle 29"/>
          <p:cNvSpPr/>
          <p:nvPr/>
        </p:nvSpPr>
        <p:spPr>
          <a:xfrm>
            <a:off x="9765792" y="2921507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47" name="Rectangle 30"/>
          <p:cNvSpPr/>
          <p:nvPr/>
        </p:nvSpPr>
        <p:spPr>
          <a:xfrm>
            <a:off x="9765792" y="2921507"/>
            <a:ext cx="896113" cy="64009"/>
          </a:xfrm>
          <a:prstGeom prst="rect">
            <a:avLst/>
          </a:prstGeom>
          <a:solidFill>
            <a:srgbClr val="4F805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48" name="TextBox 31"/>
          <p:cNvSpPr txBox="1"/>
          <p:nvPr/>
        </p:nvSpPr>
        <p:spPr>
          <a:xfrm>
            <a:off x="10744200" y="2908363"/>
            <a:ext cx="210313" cy="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4F805E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98</a:t>
            </a:r>
          </a:p>
        </p:txBody>
      </p:sp>
      <p:sp>
        <p:nvSpPr>
          <p:cNvPr id="149" name="TextBox 32"/>
          <p:cNvSpPr txBox="1"/>
          <p:nvPr/>
        </p:nvSpPr>
        <p:spPr>
          <a:xfrm>
            <a:off x="8951975" y="3104388"/>
            <a:ext cx="749809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线性代数</a:t>
            </a:r>
          </a:p>
        </p:txBody>
      </p:sp>
      <p:sp>
        <p:nvSpPr>
          <p:cNvPr id="150" name="Rectangle 33"/>
          <p:cNvSpPr/>
          <p:nvPr/>
        </p:nvSpPr>
        <p:spPr>
          <a:xfrm>
            <a:off x="9765792" y="3168395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51" name="Rectangle 34"/>
          <p:cNvSpPr/>
          <p:nvPr/>
        </p:nvSpPr>
        <p:spPr>
          <a:xfrm>
            <a:off x="9765792" y="3168395"/>
            <a:ext cx="868681" cy="64009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52" name="TextBox 35"/>
          <p:cNvSpPr txBox="1"/>
          <p:nvPr/>
        </p:nvSpPr>
        <p:spPr>
          <a:xfrm>
            <a:off x="10744200" y="3172968"/>
            <a:ext cx="210313" cy="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95</a:t>
            </a:r>
          </a:p>
        </p:txBody>
      </p:sp>
      <p:sp>
        <p:nvSpPr>
          <p:cNvPr id="153" name="TextBox 36"/>
          <p:cNvSpPr txBox="1"/>
          <p:nvPr/>
        </p:nvSpPr>
        <p:spPr>
          <a:xfrm>
            <a:off x="8951975" y="3351276"/>
            <a:ext cx="749809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偏微分方程</a:t>
            </a:r>
          </a:p>
        </p:txBody>
      </p:sp>
      <p:sp>
        <p:nvSpPr>
          <p:cNvPr id="154" name="Rectangle 37"/>
          <p:cNvSpPr/>
          <p:nvPr/>
        </p:nvSpPr>
        <p:spPr>
          <a:xfrm>
            <a:off x="9765792" y="3415284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55" name="Rectangle 38"/>
          <p:cNvSpPr/>
          <p:nvPr/>
        </p:nvSpPr>
        <p:spPr>
          <a:xfrm>
            <a:off x="9765792" y="3415284"/>
            <a:ext cx="841249" cy="64009"/>
          </a:xfrm>
          <a:prstGeom prst="rect">
            <a:avLst/>
          </a:prstGeom>
          <a:solidFill>
            <a:srgbClr val="C4843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56" name="TextBox 39"/>
          <p:cNvSpPr txBox="1"/>
          <p:nvPr/>
        </p:nvSpPr>
        <p:spPr>
          <a:xfrm>
            <a:off x="10744200" y="3378390"/>
            <a:ext cx="210313" cy="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C48436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92</a:t>
            </a:r>
          </a:p>
        </p:txBody>
      </p:sp>
      <p:sp>
        <p:nvSpPr>
          <p:cNvPr id="157" name="TextBox 40"/>
          <p:cNvSpPr txBox="1"/>
          <p:nvPr/>
        </p:nvSpPr>
        <p:spPr>
          <a:xfrm>
            <a:off x="8951975" y="3598164"/>
            <a:ext cx="749809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量子力学</a:t>
            </a:r>
          </a:p>
        </p:txBody>
      </p:sp>
      <p:sp>
        <p:nvSpPr>
          <p:cNvPr id="158" name="Rectangle 41"/>
          <p:cNvSpPr/>
          <p:nvPr/>
        </p:nvSpPr>
        <p:spPr>
          <a:xfrm>
            <a:off x="9765792" y="3662171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59" name="Rectangle 42"/>
          <p:cNvSpPr/>
          <p:nvPr/>
        </p:nvSpPr>
        <p:spPr>
          <a:xfrm>
            <a:off x="9765792" y="3662171"/>
            <a:ext cx="832104" cy="64009"/>
          </a:xfrm>
          <a:prstGeom prst="rect">
            <a:avLst/>
          </a:prstGeom>
          <a:solidFill>
            <a:srgbClr val="66508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60" name="TextBox 43"/>
          <p:cNvSpPr txBox="1"/>
          <p:nvPr/>
        </p:nvSpPr>
        <p:spPr>
          <a:xfrm>
            <a:off x="10744200" y="3652392"/>
            <a:ext cx="210313" cy="141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665080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91</a:t>
            </a:r>
          </a:p>
        </p:txBody>
      </p:sp>
      <p:sp>
        <p:nvSpPr>
          <p:cNvPr id="161" name="TextBox 44"/>
          <p:cNvSpPr txBox="1"/>
          <p:nvPr/>
        </p:nvSpPr>
        <p:spPr>
          <a:xfrm>
            <a:off x="8951975" y="3845052"/>
            <a:ext cx="749809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电磁学</a:t>
            </a:r>
          </a:p>
        </p:txBody>
      </p:sp>
      <p:sp>
        <p:nvSpPr>
          <p:cNvPr id="162" name="Rectangle 45"/>
          <p:cNvSpPr/>
          <p:nvPr/>
        </p:nvSpPr>
        <p:spPr>
          <a:xfrm>
            <a:off x="9765792" y="3909059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63" name="Rectangle 46"/>
          <p:cNvSpPr/>
          <p:nvPr/>
        </p:nvSpPr>
        <p:spPr>
          <a:xfrm>
            <a:off x="9765792" y="3909059"/>
            <a:ext cx="822961" cy="64009"/>
          </a:xfrm>
          <a:prstGeom prst="rect">
            <a:avLst/>
          </a:prstGeom>
          <a:solidFill>
            <a:srgbClr val="2A344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64" name="TextBox 47"/>
          <p:cNvSpPr txBox="1"/>
          <p:nvPr/>
        </p:nvSpPr>
        <p:spPr>
          <a:xfrm>
            <a:off x="10744200" y="3899280"/>
            <a:ext cx="210313" cy="141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2A3440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90</a:t>
            </a:r>
          </a:p>
        </p:txBody>
      </p:sp>
      <p:sp>
        <p:nvSpPr>
          <p:cNvPr id="165" name="TextBox 48"/>
          <p:cNvSpPr txBox="1"/>
          <p:nvPr/>
        </p:nvSpPr>
        <p:spPr>
          <a:xfrm>
            <a:off x="8951975" y="4091938"/>
            <a:ext cx="749809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固体物理</a:t>
            </a:r>
          </a:p>
        </p:txBody>
      </p:sp>
      <p:sp>
        <p:nvSpPr>
          <p:cNvPr id="166" name="Rectangle 49"/>
          <p:cNvSpPr/>
          <p:nvPr/>
        </p:nvSpPr>
        <p:spPr>
          <a:xfrm>
            <a:off x="9765792" y="4155947"/>
            <a:ext cx="914401" cy="64009"/>
          </a:xfrm>
          <a:prstGeom prst="rect">
            <a:avLst/>
          </a:prstGeom>
          <a:solidFill>
            <a:srgbClr val="E9EE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67" name="Rectangle 50"/>
          <p:cNvSpPr/>
          <p:nvPr/>
        </p:nvSpPr>
        <p:spPr>
          <a:xfrm>
            <a:off x="9765792" y="4155947"/>
            <a:ext cx="832104" cy="64009"/>
          </a:xfrm>
          <a:prstGeom prst="rect">
            <a:avLst/>
          </a:prstGeom>
          <a:solidFill>
            <a:srgbClr val="4F805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900">
                <a:solidFill>
                  <a:srgbClr val="FFFFFF"/>
                </a:solidFill>
              </a:defRPr>
            </a:pPr>
          </a:p>
        </p:txBody>
      </p:sp>
      <p:sp>
        <p:nvSpPr>
          <p:cNvPr id="168" name="TextBox 51"/>
          <p:cNvSpPr txBox="1"/>
          <p:nvPr/>
        </p:nvSpPr>
        <p:spPr>
          <a:xfrm>
            <a:off x="10744200" y="4122419"/>
            <a:ext cx="210313" cy="141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1000">
                <a:solidFill>
                  <a:srgbClr val="4F805E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91</a:t>
            </a:r>
          </a:p>
        </p:txBody>
      </p:sp>
      <p:sp>
        <p:nvSpPr>
          <p:cNvPr id="169" name="Rounded Rectangle 52"/>
          <p:cNvSpPr/>
          <p:nvPr/>
        </p:nvSpPr>
        <p:spPr>
          <a:xfrm>
            <a:off x="648859" y="3257613"/>
            <a:ext cx="2395729" cy="11430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CE5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Oval 53"/>
          <p:cNvSpPr/>
          <p:nvPr/>
        </p:nvSpPr>
        <p:spPr>
          <a:xfrm>
            <a:off x="850027" y="3541078"/>
            <a:ext cx="310897" cy="310897"/>
          </a:xfrm>
          <a:prstGeom prst="ellipse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54"/>
          <p:cNvSpPr txBox="1"/>
          <p:nvPr/>
        </p:nvSpPr>
        <p:spPr>
          <a:xfrm>
            <a:off x="872887" y="3637090"/>
            <a:ext cx="26517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72" name="TextBox 55"/>
          <p:cNvSpPr txBox="1"/>
          <p:nvPr/>
        </p:nvSpPr>
        <p:spPr>
          <a:xfrm>
            <a:off x="1298083" y="3467926"/>
            <a:ext cx="1399033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物理图像</a:t>
            </a:r>
          </a:p>
        </p:txBody>
      </p:sp>
      <p:sp>
        <p:nvSpPr>
          <p:cNvPr id="173" name="TextBox 56"/>
          <p:cNvSpPr txBox="1"/>
          <p:nvPr/>
        </p:nvSpPr>
        <p:spPr>
          <a:xfrm>
            <a:off x="1298083" y="3769678"/>
            <a:ext cx="1463041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从经典、量子、电磁和固体物理中识别模型对象与适用边界。</a:t>
            </a:r>
          </a:p>
        </p:txBody>
      </p:sp>
      <p:sp>
        <p:nvSpPr>
          <p:cNvPr id="174" name="Rounded Rectangle 57"/>
          <p:cNvSpPr/>
          <p:nvPr/>
        </p:nvSpPr>
        <p:spPr>
          <a:xfrm>
            <a:off x="3328051" y="3257613"/>
            <a:ext cx="2395729" cy="11430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CE5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Oval 58"/>
          <p:cNvSpPr/>
          <p:nvPr/>
        </p:nvSpPr>
        <p:spPr>
          <a:xfrm>
            <a:off x="3529219" y="3541078"/>
            <a:ext cx="310897" cy="310897"/>
          </a:xfrm>
          <a:prstGeom prst="ellipse">
            <a:avLst/>
          </a:prstGeom>
          <a:solidFill>
            <a:srgbClr val="4F805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59"/>
          <p:cNvSpPr txBox="1"/>
          <p:nvPr/>
        </p:nvSpPr>
        <p:spPr>
          <a:xfrm>
            <a:off x="3552079" y="3637090"/>
            <a:ext cx="26517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77" name="TextBox 60"/>
          <p:cNvSpPr txBox="1"/>
          <p:nvPr/>
        </p:nvSpPr>
        <p:spPr>
          <a:xfrm>
            <a:off x="3977275" y="3467926"/>
            <a:ext cx="1399033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数学表达</a:t>
            </a:r>
          </a:p>
        </p:txBody>
      </p:sp>
      <p:sp>
        <p:nvSpPr>
          <p:cNvPr id="178" name="TextBox 61"/>
          <p:cNvSpPr txBox="1"/>
          <p:nvPr/>
        </p:nvSpPr>
        <p:spPr>
          <a:xfrm>
            <a:off x="3977275" y="3769678"/>
            <a:ext cx="1463041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用数学物理方法、线性代数和偏微分方程承接推导与离散化。</a:t>
            </a:r>
          </a:p>
        </p:txBody>
      </p:sp>
      <p:sp>
        <p:nvSpPr>
          <p:cNvPr id="179" name="Rounded Rectangle 62"/>
          <p:cNvSpPr/>
          <p:nvPr/>
        </p:nvSpPr>
        <p:spPr>
          <a:xfrm>
            <a:off x="6007243" y="3257613"/>
            <a:ext cx="2395729" cy="11430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CE5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Oval 63"/>
          <p:cNvSpPr/>
          <p:nvPr/>
        </p:nvSpPr>
        <p:spPr>
          <a:xfrm>
            <a:off x="6208411" y="3541078"/>
            <a:ext cx="310897" cy="310897"/>
          </a:xfrm>
          <a:prstGeom prst="ellipse">
            <a:avLst/>
          </a:prstGeom>
          <a:solidFill>
            <a:srgbClr val="C4843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TextBox 64"/>
          <p:cNvSpPr txBox="1"/>
          <p:nvPr/>
        </p:nvSpPr>
        <p:spPr>
          <a:xfrm>
            <a:off x="6231271" y="3637090"/>
            <a:ext cx="26517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82" name="TextBox 65"/>
          <p:cNvSpPr txBox="1"/>
          <p:nvPr/>
        </p:nvSpPr>
        <p:spPr>
          <a:xfrm>
            <a:off x="6656467" y="3467926"/>
            <a:ext cx="1399033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计算实现</a:t>
            </a:r>
          </a:p>
        </p:txBody>
      </p:sp>
      <p:sp>
        <p:nvSpPr>
          <p:cNvPr id="183" name="TextBox 66"/>
          <p:cNvSpPr txBox="1"/>
          <p:nvPr/>
        </p:nvSpPr>
        <p:spPr>
          <a:xfrm>
            <a:off x="6656467" y="3769678"/>
            <a:ext cx="1463041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9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 </a:t>
            </a:r>
            <a:r>
              <a:t>Python / Matlab / LaTeX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将公式转化为可检验的数值流程。</a:t>
            </a:r>
          </a:p>
        </p:txBody>
      </p:sp>
      <p:sp>
        <p:nvSpPr>
          <p:cNvPr id="184" name="TextBox 67"/>
          <p:cNvSpPr txBox="1"/>
          <p:nvPr/>
        </p:nvSpPr>
        <p:spPr>
          <a:xfrm>
            <a:off x="39661" y="5637275"/>
            <a:ext cx="10497313" cy="284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15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结论：我申请西湖时的核心定位，不是单一软件能力，而是物理理解、数值建模和工程实现的组合。</a:t>
            </a:r>
          </a:p>
        </p:txBody>
      </p:sp>
      <p:sp>
        <p:nvSpPr>
          <p:cNvPr id="185" name="Connector 68"/>
          <p:cNvSpPr/>
          <p:nvPr/>
        </p:nvSpPr>
        <p:spPr>
          <a:xfrm>
            <a:off x="566927" y="6419088"/>
            <a:ext cx="11064242" cy="1"/>
          </a:xfrm>
          <a:prstGeom prst="line">
            <a:avLst/>
          </a:prstGeom>
          <a:ln w="8890">
            <a:solidFill>
              <a:srgbClr val="D7DEE6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86" name="TextBox 69"/>
          <p:cNvSpPr txBox="1"/>
          <p:nvPr/>
        </p:nvSpPr>
        <p:spPr>
          <a:xfrm>
            <a:off x="576071" y="6483096"/>
            <a:ext cx="5376674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齐恒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东华大学物理学院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应用物理学（新能源与微电子）</a:t>
            </a:r>
          </a:p>
        </p:txBody>
      </p:sp>
      <p:sp>
        <p:nvSpPr>
          <p:cNvPr id="187" name="TextBox 70"/>
          <p:cNvSpPr txBox="1"/>
          <p:nvPr/>
        </p:nvSpPr>
        <p:spPr>
          <a:xfrm>
            <a:off x="5129784" y="6483096"/>
            <a:ext cx="354787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800">
                <a:solidFill>
                  <a:srgbClr val="7F8D9D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西湖大学理学院夏令营个人成果汇报</a:t>
            </a:r>
          </a:p>
        </p:txBody>
      </p:sp>
      <p:sp>
        <p:nvSpPr>
          <p:cNvPr id="188" name="TextBox 71"/>
          <p:cNvSpPr txBox="1"/>
          <p:nvPr/>
        </p:nvSpPr>
        <p:spPr>
          <a:xfrm>
            <a:off x="11045951" y="6483096"/>
            <a:ext cx="5852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8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lvl1pPr>
          </a:lstStyle>
          <a:p>
            <a:pPr/>
            <a:r>
              <a:t>02/06</a:t>
            </a:r>
          </a:p>
        </p:txBody>
      </p:sp>
      <p:sp>
        <p:nvSpPr>
          <p:cNvPr id="189" name="核心竞争力：我自己平时会用一些agent做一些项目，也恰恰是我自驱力的体现…"/>
          <p:cNvSpPr txBox="1"/>
          <p:nvPr/>
        </p:nvSpPr>
        <p:spPr>
          <a:xfrm>
            <a:off x="984626" y="4795662"/>
            <a:ext cx="7942844" cy="675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>
                <a:solidFill>
                  <a:schemeClr val="accent2">
                    <a:satOff val="-4966"/>
                    <a:lumOff val="-10549"/>
                  </a:schemeClr>
                </a:solidFill>
              </a:defRPr>
            </a:pPr>
            <a:r>
              <a:t>核心竞争力：我自己平时会用一些agent做一些项目，也恰恰是我自驱力的体现</a:t>
            </a:r>
          </a:p>
          <a:p>
            <a:pPr>
              <a:defRPr sz="1200">
                <a:solidFill>
                  <a:schemeClr val="accent2">
                    <a:satOff val="-4966"/>
                    <a:lumOff val="-10549"/>
                  </a:schemeClr>
                </a:solidFill>
                <a:latin typeface="Times Roman"/>
                <a:ea typeface="Times Roman"/>
                <a:cs typeface="Times Roman"/>
                <a:sym typeface="Times Roman"/>
              </a:defRPr>
            </a:pPr>
            <a:r>
              <a:t>自驱探索：主动发现问题，借助 AI agent 将想法快速落地为可验证项目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566927" y="393191"/>
            <a:ext cx="82297" cy="228601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TextBox 2"/>
          <p:cNvSpPr txBox="1"/>
          <p:nvPr/>
        </p:nvSpPr>
        <p:spPr>
          <a:xfrm>
            <a:off x="722375" y="347472"/>
            <a:ext cx="26334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PROJECT EVIDENCE</a:t>
            </a:r>
          </a:p>
        </p:txBody>
      </p:sp>
      <p:sp>
        <p:nvSpPr>
          <p:cNvPr id="193" name="TextBox 3"/>
          <p:cNvSpPr txBox="1"/>
          <p:nvPr/>
        </p:nvSpPr>
        <p:spPr>
          <a:xfrm>
            <a:off x="10479024" y="347472"/>
            <a:ext cx="115214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项目证据</a:t>
            </a:r>
          </a:p>
        </p:txBody>
      </p:sp>
      <p:sp>
        <p:nvSpPr>
          <p:cNvPr id="194" name="TextBox 4"/>
          <p:cNvSpPr txBox="1"/>
          <p:nvPr/>
        </p:nvSpPr>
        <p:spPr>
          <a:xfrm>
            <a:off x="576071" y="768096"/>
            <a:ext cx="8759954" cy="475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2500">
                <a:solidFill>
                  <a:srgbClr val="121B27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项目重点不是</a:t>
            </a:r>
            <a:r>
              <a:t>“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成果成熟</a:t>
            </a:r>
            <a:r>
              <a:t>”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，而是自驱拆解和实现能力</a:t>
            </a:r>
          </a:p>
        </p:txBody>
      </p:sp>
      <p:sp>
        <p:nvSpPr>
          <p:cNvPr id="195" name="Rounded Rectangle 6"/>
          <p:cNvSpPr/>
          <p:nvPr/>
        </p:nvSpPr>
        <p:spPr>
          <a:xfrm>
            <a:off x="10808207" y="786383"/>
            <a:ext cx="804673" cy="804673"/>
          </a:xfrm>
          <a:prstGeom prst="roundRect">
            <a:avLst>
              <a:gd name="adj" fmla="val 16667"/>
            </a:avLst>
          </a:prstGeom>
          <a:solidFill>
            <a:srgbClr val="EFF7F8"/>
          </a:solidFill>
          <a:ln w="8890">
            <a:solidFill>
              <a:srgbClr val="C8DDE1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96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63071" y="841247"/>
            <a:ext cx="694945" cy="694945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Box 8"/>
          <p:cNvSpPr txBox="1"/>
          <p:nvPr/>
        </p:nvSpPr>
        <p:spPr>
          <a:xfrm>
            <a:off x="10725912" y="1645920"/>
            <a:ext cx="98755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8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扫码看主页</a:t>
            </a:r>
          </a:p>
        </p:txBody>
      </p:sp>
      <p:sp>
        <p:nvSpPr>
          <p:cNvPr id="198" name="TextBox 9"/>
          <p:cNvSpPr txBox="1"/>
          <p:nvPr/>
        </p:nvSpPr>
        <p:spPr>
          <a:xfrm>
            <a:off x="8805672" y="932688"/>
            <a:ext cx="1719073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 algn="r">
              <a:lnSpc>
                <a:spcPct val="108000"/>
              </a:lnSpc>
              <a:defRPr sz="1000">
                <a:solidFill>
                  <a:srgbClr val="127584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个人主页与 </a:t>
            </a:r>
            <a:r>
              <a:t>GitHub</a:t>
            </a:r>
          </a:p>
        </p:txBody>
      </p:sp>
      <p:sp>
        <p:nvSpPr>
          <p:cNvPr id="199" name="TextBox 10"/>
          <p:cNvSpPr txBox="1"/>
          <p:nvPr/>
        </p:nvSpPr>
        <p:spPr>
          <a:xfrm>
            <a:off x="8677655" y="1207008"/>
            <a:ext cx="184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8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lvl1pPr>
          </a:lstStyle>
          <a:p>
            <a:pPr/>
            <a:r>
              <a:t>hengqi61-maker.github.io</a:t>
            </a:r>
          </a:p>
        </p:txBody>
      </p:sp>
      <p:sp>
        <p:nvSpPr>
          <p:cNvPr id="200" name="Rounded Rectangle 11"/>
          <p:cNvSpPr/>
          <p:nvPr/>
        </p:nvSpPr>
        <p:spPr>
          <a:xfrm>
            <a:off x="658368" y="1828800"/>
            <a:ext cx="3401568" cy="3566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TextBox 12"/>
          <p:cNvSpPr txBox="1"/>
          <p:nvPr/>
        </p:nvSpPr>
        <p:spPr>
          <a:xfrm>
            <a:off x="886968" y="2066543"/>
            <a:ext cx="21762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QUANTUM / VISUALIZATION</a:t>
            </a:r>
          </a:p>
        </p:txBody>
      </p:sp>
      <p:sp>
        <p:nvSpPr>
          <p:cNvPr id="202" name="TextBox 13"/>
          <p:cNvSpPr txBox="1"/>
          <p:nvPr/>
        </p:nvSpPr>
        <p:spPr>
          <a:xfrm>
            <a:off x="886968" y="2331720"/>
            <a:ext cx="2834641" cy="272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2000"/>
              </a:lnSpc>
              <a:defRPr b="1" sz="14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氢原子轨道电子云</a:t>
            </a:r>
          </a:p>
        </p:txBody>
      </p:sp>
      <p:sp>
        <p:nvSpPr>
          <p:cNvPr id="203" name="TextBox 14"/>
          <p:cNvSpPr txBox="1"/>
          <p:nvPr/>
        </p:nvSpPr>
        <p:spPr>
          <a:xfrm>
            <a:off x="905255" y="2871216"/>
            <a:ext cx="694945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问题来源</a:t>
            </a:r>
          </a:p>
        </p:txBody>
      </p:sp>
      <p:sp>
        <p:nvSpPr>
          <p:cNvPr id="204" name="TextBox 15"/>
          <p:cNvSpPr txBox="1"/>
          <p:nvPr/>
        </p:nvSpPr>
        <p:spPr>
          <a:xfrm>
            <a:off x="1609344" y="2862072"/>
            <a:ext cx="2121408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想理解轨道形状到底应由什么定义，而不只是背图像。</a:t>
            </a:r>
          </a:p>
        </p:txBody>
      </p:sp>
      <p:sp>
        <p:nvSpPr>
          <p:cNvPr id="205" name="TextBox 16"/>
          <p:cNvSpPr txBox="1"/>
          <p:nvPr/>
        </p:nvSpPr>
        <p:spPr>
          <a:xfrm>
            <a:off x="905255" y="3584447"/>
            <a:ext cx="694945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实现路径</a:t>
            </a:r>
          </a:p>
        </p:txBody>
      </p:sp>
      <p:sp>
        <p:nvSpPr>
          <p:cNvPr id="206" name="TextBox 17"/>
          <p:cNvSpPr txBox="1"/>
          <p:nvPr/>
        </p:nvSpPr>
        <p:spPr>
          <a:xfrm>
            <a:off x="1609344" y="3575303"/>
            <a:ext cx="2121408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11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以概率密度为对象，结合 </a:t>
            </a:r>
            <a:r>
              <a:t>Monte Carlo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采样和三维可视化检验理解。</a:t>
            </a:r>
          </a:p>
        </p:txBody>
      </p:sp>
      <p:sp>
        <p:nvSpPr>
          <p:cNvPr id="207" name="TextBox 20"/>
          <p:cNvSpPr txBox="1"/>
          <p:nvPr/>
        </p:nvSpPr>
        <p:spPr>
          <a:xfrm>
            <a:off x="905255" y="4297679"/>
            <a:ext cx="694945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证明能力</a:t>
            </a:r>
          </a:p>
        </p:txBody>
      </p:sp>
      <p:sp>
        <p:nvSpPr>
          <p:cNvPr id="208" name="TextBox 21"/>
          <p:cNvSpPr txBox="1"/>
          <p:nvPr/>
        </p:nvSpPr>
        <p:spPr>
          <a:xfrm>
            <a:off x="1609344" y="4288535"/>
            <a:ext cx="2121408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能把公式、概率分布、采样误差和可视化结果串起来。</a:t>
            </a:r>
          </a:p>
        </p:txBody>
      </p:sp>
      <p:sp>
        <p:nvSpPr>
          <p:cNvPr id="209" name="Rounded Rectangle 31"/>
          <p:cNvSpPr/>
          <p:nvPr/>
        </p:nvSpPr>
        <p:spPr>
          <a:xfrm>
            <a:off x="5202935" y="1828799"/>
            <a:ext cx="3401569" cy="35661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0" name="TextBox 32"/>
          <p:cNvSpPr txBox="1"/>
          <p:nvPr/>
        </p:nvSpPr>
        <p:spPr>
          <a:xfrm>
            <a:off x="5431535" y="2066543"/>
            <a:ext cx="21762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65080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AI WORKFLOW</a:t>
            </a:r>
          </a:p>
        </p:txBody>
      </p:sp>
      <p:sp>
        <p:nvSpPr>
          <p:cNvPr id="211" name="TextBox 33"/>
          <p:cNvSpPr txBox="1"/>
          <p:nvPr/>
        </p:nvSpPr>
        <p:spPr>
          <a:xfrm>
            <a:off x="5431535" y="2319020"/>
            <a:ext cx="2834641" cy="480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2000"/>
              </a:lnSpc>
              <a:defRPr sz="1300">
                <a:solidFill>
                  <a:srgbClr val="121B27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t>Memory Engine</a:t>
            </a:r>
          </a:p>
          <a:p>
            <a:pPr>
              <a:lnSpc>
                <a:spcPct val="102000"/>
              </a:lnSpc>
              <a:defRPr sz="1300">
                <a:solidFill>
                  <a:srgbClr val="121B27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t>AI Agent 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工具</a:t>
            </a:r>
          </a:p>
        </p:txBody>
      </p:sp>
      <p:sp>
        <p:nvSpPr>
          <p:cNvPr id="212" name="TextBox 34"/>
          <p:cNvSpPr txBox="1"/>
          <p:nvPr/>
        </p:nvSpPr>
        <p:spPr>
          <a:xfrm>
            <a:off x="5449823" y="2871216"/>
            <a:ext cx="694945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66508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问题来源</a:t>
            </a:r>
          </a:p>
        </p:txBody>
      </p:sp>
      <p:sp>
        <p:nvSpPr>
          <p:cNvPr id="213" name="TextBox 35"/>
          <p:cNvSpPr txBox="1"/>
          <p:nvPr/>
        </p:nvSpPr>
        <p:spPr>
          <a:xfrm>
            <a:off x="6153911" y="2862072"/>
            <a:ext cx="2121409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大模型上下文有限，重要信息容易遗忘，科研过程也需要长期记录。</a:t>
            </a:r>
          </a:p>
        </p:txBody>
      </p:sp>
      <p:sp>
        <p:nvSpPr>
          <p:cNvPr id="214" name="TextBox 36"/>
          <p:cNvSpPr txBox="1"/>
          <p:nvPr/>
        </p:nvSpPr>
        <p:spPr>
          <a:xfrm>
            <a:off x="5449823" y="3584447"/>
            <a:ext cx="694945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66508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实现路径</a:t>
            </a:r>
          </a:p>
        </p:txBody>
      </p:sp>
      <p:sp>
        <p:nvSpPr>
          <p:cNvPr id="215" name="TextBox 37"/>
          <p:cNvSpPr txBox="1"/>
          <p:nvPr/>
        </p:nvSpPr>
        <p:spPr>
          <a:xfrm>
            <a:off x="6153911" y="3575303"/>
            <a:ext cx="2121409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做长期记忆、语义检索、衰减、巩固和文档化流程。</a:t>
            </a:r>
          </a:p>
        </p:txBody>
      </p:sp>
      <p:sp>
        <p:nvSpPr>
          <p:cNvPr id="216" name="TextBox 38"/>
          <p:cNvSpPr txBox="1"/>
          <p:nvPr/>
        </p:nvSpPr>
        <p:spPr>
          <a:xfrm>
            <a:off x="5449823" y="4297679"/>
            <a:ext cx="694945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66508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证明能力</a:t>
            </a:r>
          </a:p>
        </p:txBody>
      </p:sp>
      <p:sp>
        <p:nvSpPr>
          <p:cNvPr id="217" name="TextBox 39"/>
          <p:cNvSpPr txBox="1"/>
          <p:nvPr/>
        </p:nvSpPr>
        <p:spPr>
          <a:xfrm>
            <a:off x="6153911" y="4288535"/>
            <a:ext cx="2121409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11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能用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协作提升学习、代码实验和科研工作流效率。</a:t>
            </a:r>
          </a:p>
        </p:txBody>
      </p:sp>
      <p:sp>
        <p:nvSpPr>
          <p:cNvPr id="218" name="Rounded Rectangle 40"/>
          <p:cNvSpPr/>
          <p:nvPr/>
        </p:nvSpPr>
        <p:spPr>
          <a:xfrm>
            <a:off x="822960" y="5605271"/>
            <a:ext cx="10561320" cy="393193"/>
          </a:xfrm>
          <a:prstGeom prst="roundRect">
            <a:avLst>
              <a:gd name="adj" fmla="val 16667"/>
            </a:avLst>
          </a:prstGeom>
          <a:solidFill>
            <a:srgbClr val="EDF5F5"/>
          </a:solidFill>
          <a:ln w="8890">
            <a:solidFill>
              <a:srgbClr val="C9DCD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41"/>
          <p:cNvSpPr txBox="1"/>
          <p:nvPr/>
        </p:nvSpPr>
        <p:spPr>
          <a:xfrm>
            <a:off x="1033271" y="5714999"/>
            <a:ext cx="10085834" cy="234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12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共同证明：我会主动找问题、做原型、验证和迭代。更多项目证据可扫码查看个人主页。</a:t>
            </a:r>
          </a:p>
        </p:txBody>
      </p:sp>
      <p:sp>
        <p:nvSpPr>
          <p:cNvPr id="220" name="Connector 42"/>
          <p:cNvSpPr/>
          <p:nvPr/>
        </p:nvSpPr>
        <p:spPr>
          <a:xfrm>
            <a:off x="566927" y="6419088"/>
            <a:ext cx="11064242" cy="1"/>
          </a:xfrm>
          <a:prstGeom prst="line">
            <a:avLst/>
          </a:prstGeom>
          <a:ln w="8890">
            <a:solidFill>
              <a:srgbClr val="D7DEE6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21" name="TextBox 43"/>
          <p:cNvSpPr txBox="1"/>
          <p:nvPr/>
        </p:nvSpPr>
        <p:spPr>
          <a:xfrm>
            <a:off x="576071" y="6483096"/>
            <a:ext cx="5376674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齐恒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东华大学物理学院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应用物理学（新能源与微电子）</a:t>
            </a:r>
          </a:p>
        </p:txBody>
      </p:sp>
      <p:sp>
        <p:nvSpPr>
          <p:cNvPr id="222" name="TextBox 44"/>
          <p:cNvSpPr txBox="1"/>
          <p:nvPr/>
        </p:nvSpPr>
        <p:spPr>
          <a:xfrm>
            <a:off x="5129784" y="6483096"/>
            <a:ext cx="354787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800">
                <a:solidFill>
                  <a:srgbClr val="7F8D9D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西湖大学理学院夏令营个人成果汇报</a:t>
            </a:r>
          </a:p>
        </p:txBody>
      </p:sp>
      <p:sp>
        <p:nvSpPr>
          <p:cNvPr id="223" name="TextBox 45"/>
          <p:cNvSpPr txBox="1"/>
          <p:nvPr/>
        </p:nvSpPr>
        <p:spPr>
          <a:xfrm>
            <a:off x="11045951" y="6483096"/>
            <a:ext cx="5852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8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lvl1pPr>
          </a:lstStyle>
          <a:p>
            <a:pPr/>
            <a:r>
              <a:t>03/06</a:t>
            </a:r>
          </a:p>
        </p:txBody>
      </p:sp>
      <p:pic>
        <p:nvPicPr>
          <p:cNvPr id="224" name="已粘贴的影片.png" descr="已粘贴的影片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093893" y="2010156"/>
            <a:ext cx="2610326" cy="28185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566927" y="393191"/>
            <a:ext cx="82297" cy="228601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7" name="TextBox 2"/>
          <p:cNvSpPr txBox="1"/>
          <p:nvPr/>
        </p:nvSpPr>
        <p:spPr>
          <a:xfrm>
            <a:off x="722375" y="347472"/>
            <a:ext cx="26334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SELF-DRIVEN EXPLORATION</a:t>
            </a:r>
          </a:p>
        </p:txBody>
      </p:sp>
      <p:sp>
        <p:nvSpPr>
          <p:cNvPr id="228" name="TextBox 3"/>
          <p:cNvSpPr txBox="1"/>
          <p:nvPr/>
        </p:nvSpPr>
        <p:spPr>
          <a:xfrm>
            <a:off x="10479024" y="347472"/>
            <a:ext cx="115214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完整的我</a:t>
            </a:r>
          </a:p>
        </p:txBody>
      </p:sp>
      <p:sp>
        <p:nvSpPr>
          <p:cNvPr id="229" name="TextBox 4"/>
          <p:cNvSpPr txBox="1"/>
          <p:nvPr/>
        </p:nvSpPr>
        <p:spPr>
          <a:xfrm>
            <a:off x="576071" y="768096"/>
            <a:ext cx="8759954" cy="475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25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独立远行训练了我面对未知时的推进方式</a:t>
            </a:r>
          </a:p>
        </p:txBody>
      </p:sp>
      <p:pic>
        <p:nvPicPr>
          <p:cNvPr id="230" name="Picture 6" descr="Picture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58368" y="1901951"/>
            <a:ext cx="1682496" cy="12618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" name="Picture 7" descr="Picture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542032" y="1901951"/>
            <a:ext cx="1682496" cy="12618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32" name="Picture 8" descr="Picture 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425696" y="1901951"/>
            <a:ext cx="1682497" cy="1261873"/>
          </a:xfrm>
          <a:prstGeom prst="rect">
            <a:avLst/>
          </a:prstGeom>
          <a:ln w="12700">
            <a:miter lim="400000"/>
          </a:ln>
        </p:spPr>
      </p:pic>
      <p:sp>
        <p:nvSpPr>
          <p:cNvPr id="233" name="Rounded Rectangle 9"/>
          <p:cNvSpPr/>
          <p:nvPr/>
        </p:nvSpPr>
        <p:spPr>
          <a:xfrm>
            <a:off x="658368" y="3364991"/>
            <a:ext cx="5440680" cy="1719073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234" name="TextBox 10"/>
          <p:cNvSpPr txBox="1"/>
          <p:nvPr/>
        </p:nvSpPr>
        <p:spPr>
          <a:xfrm>
            <a:off x="941831" y="3621023"/>
            <a:ext cx="2542034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旅行与徒步给我的训练</a:t>
            </a:r>
          </a:p>
        </p:txBody>
      </p:sp>
      <p:sp>
        <p:nvSpPr>
          <p:cNvPr id="235" name="Oval 11"/>
          <p:cNvSpPr/>
          <p:nvPr/>
        </p:nvSpPr>
        <p:spPr>
          <a:xfrm>
            <a:off x="941832" y="4087367"/>
            <a:ext cx="109729" cy="109729"/>
          </a:xfrm>
          <a:prstGeom prst="ellipse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236" name="TextBox 12"/>
          <p:cNvSpPr txBox="1"/>
          <p:nvPr/>
        </p:nvSpPr>
        <p:spPr>
          <a:xfrm>
            <a:off x="1152144" y="4032503"/>
            <a:ext cx="987551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路线与预算</a:t>
            </a:r>
          </a:p>
        </p:txBody>
      </p:sp>
      <p:sp>
        <p:nvSpPr>
          <p:cNvPr id="237" name="TextBox 13"/>
          <p:cNvSpPr txBox="1"/>
          <p:nvPr/>
        </p:nvSpPr>
        <p:spPr>
          <a:xfrm>
            <a:off x="1993391" y="4032503"/>
            <a:ext cx="3502154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2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把目标拆成路线、时间、装备、补给和预算。</a:t>
            </a:r>
          </a:p>
        </p:txBody>
      </p:sp>
      <p:sp>
        <p:nvSpPr>
          <p:cNvPr id="238" name="Oval 14"/>
          <p:cNvSpPr/>
          <p:nvPr/>
        </p:nvSpPr>
        <p:spPr>
          <a:xfrm>
            <a:off x="941832" y="4407406"/>
            <a:ext cx="109729" cy="109729"/>
          </a:xfrm>
          <a:prstGeom prst="ellipse">
            <a:avLst/>
          </a:prstGeom>
          <a:solidFill>
            <a:srgbClr val="4F805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239" name="TextBox 15"/>
          <p:cNvSpPr txBox="1"/>
          <p:nvPr/>
        </p:nvSpPr>
        <p:spPr>
          <a:xfrm>
            <a:off x="1152144" y="4352544"/>
            <a:ext cx="987551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4F805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风险判断</a:t>
            </a:r>
          </a:p>
        </p:txBody>
      </p:sp>
      <p:sp>
        <p:nvSpPr>
          <p:cNvPr id="240" name="TextBox 16"/>
          <p:cNvSpPr txBox="1"/>
          <p:nvPr/>
        </p:nvSpPr>
        <p:spPr>
          <a:xfrm>
            <a:off x="1993391" y="4352544"/>
            <a:ext cx="3502154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2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在天气、迷路、设备和语言环境变化中快速决策。</a:t>
            </a:r>
          </a:p>
        </p:txBody>
      </p:sp>
      <p:sp>
        <p:nvSpPr>
          <p:cNvPr id="241" name="Oval 17"/>
          <p:cNvSpPr/>
          <p:nvPr/>
        </p:nvSpPr>
        <p:spPr>
          <a:xfrm>
            <a:off x="941832" y="4727447"/>
            <a:ext cx="109729" cy="109729"/>
          </a:xfrm>
          <a:prstGeom prst="ellipse">
            <a:avLst/>
          </a:prstGeom>
          <a:solidFill>
            <a:srgbClr val="C4843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242" name="TextBox 18"/>
          <p:cNvSpPr txBox="1"/>
          <p:nvPr/>
        </p:nvSpPr>
        <p:spPr>
          <a:xfrm>
            <a:off x="1152144" y="4672584"/>
            <a:ext cx="987551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C48436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复盘迭代</a:t>
            </a:r>
          </a:p>
        </p:txBody>
      </p:sp>
      <p:sp>
        <p:nvSpPr>
          <p:cNvPr id="243" name="TextBox 19"/>
          <p:cNvSpPr txBox="1"/>
          <p:nvPr/>
        </p:nvSpPr>
        <p:spPr>
          <a:xfrm>
            <a:off x="1993391" y="4672584"/>
            <a:ext cx="3502154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2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把一次次问题转化为下一次更可靠的方案。</a:t>
            </a:r>
          </a:p>
        </p:txBody>
      </p:sp>
      <p:sp>
        <p:nvSpPr>
          <p:cNvPr id="244" name="Rounded Rectangle 20"/>
          <p:cNvSpPr/>
          <p:nvPr/>
        </p:nvSpPr>
        <p:spPr>
          <a:xfrm>
            <a:off x="6576948" y="1948688"/>
            <a:ext cx="4983481" cy="3218689"/>
          </a:xfrm>
          <a:prstGeom prst="roundRect">
            <a:avLst>
              <a:gd name="adj" fmla="val 16667"/>
            </a:avLst>
          </a:prstGeom>
          <a:solidFill>
            <a:srgbClr val="EDF5F5"/>
          </a:solidFill>
          <a:ln w="8890">
            <a:solidFill>
              <a:srgbClr val="C9DCD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TextBox 21"/>
          <p:cNvSpPr txBox="1"/>
          <p:nvPr/>
        </p:nvSpPr>
        <p:spPr>
          <a:xfrm>
            <a:off x="6803136" y="2212848"/>
            <a:ext cx="1627633" cy="272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4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迁移到科研训练</a:t>
            </a:r>
          </a:p>
        </p:txBody>
      </p:sp>
      <p:sp>
        <p:nvSpPr>
          <p:cNvPr id="246" name="TextBox 22"/>
          <p:cNvSpPr txBox="1"/>
          <p:nvPr/>
        </p:nvSpPr>
        <p:spPr>
          <a:xfrm>
            <a:off x="6803136" y="2633472"/>
            <a:ext cx="3986784" cy="583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12000"/>
              </a:lnSpc>
              <a:defRPr b="1" sz="15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我现在的项目也沿用同一种方式：先做出可运行版本，再暴露问题、补齐知识、继续迭代。</a:t>
            </a:r>
          </a:p>
        </p:txBody>
      </p:sp>
      <p:sp>
        <p:nvSpPr>
          <p:cNvPr id="247" name="TextBox 23"/>
          <p:cNvSpPr txBox="1"/>
          <p:nvPr/>
        </p:nvSpPr>
        <p:spPr>
          <a:xfrm>
            <a:off x="6848855" y="3456432"/>
            <a:ext cx="292609" cy="153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248" name="TextBox 24"/>
          <p:cNvSpPr txBox="1"/>
          <p:nvPr/>
        </p:nvSpPr>
        <p:spPr>
          <a:xfrm>
            <a:off x="7251191" y="3447288"/>
            <a:ext cx="6217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不确定</a:t>
            </a:r>
          </a:p>
        </p:txBody>
      </p:sp>
      <p:sp>
        <p:nvSpPr>
          <p:cNvPr id="249" name="TextBox 25"/>
          <p:cNvSpPr txBox="1"/>
          <p:nvPr/>
        </p:nvSpPr>
        <p:spPr>
          <a:xfrm>
            <a:off x="7891270" y="3447288"/>
            <a:ext cx="3200401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方向未完全收敛，但主动调研、联系老师、比较课题组。</a:t>
            </a:r>
          </a:p>
        </p:txBody>
      </p:sp>
      <p:sp>
        <p:nvSpPr>
          <p:cNvPr id="250" name="TextBox 26"/>
          <p:cNvSpPr txBox="1"/>
          <p:nvPr/>
        </p:nvSpPr>
        <p:spPr>
          <a:xfrm>
            <a:off x="6848855" y="3931920"/>
            <a:ext cx="292609" cy="153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251" name="TextBox 27"/>
          <p:cNvSpPr txBox="1"/>
          <p:nvPr/>
        </p:nvSpPr>
        <p:spPr>
          <a:xfrm>
            <a:off x="7251191" y="3922776"/>
            <a:ext cx="6217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可执行</a:t>
            </a:r>
          </a:p>
        </p:txBody>
      </p:sp>
      <p:sp>
        <p:nvSpPr>
          <p:cNvPr id="252" name="TextBox 28"/>
          <p:cNvSpPr txBox="1"/>
          <p:nvPr/>
        </p:nvSpPr>
        <p:spPr>
          <a:xfrm>
            <a:off x="7891270" y="3922776"/>
            <a:ext cx="3200401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把模糊兴趣拆成公式、代码、图像和测试。</a:t>
            </a:r>
          </a:p>
        </p:txBody>
      </p:sp>
      <p:sp>
        <p:nvSpPr>
          <p:cNvPr id="253" name="TextBox 29"/>
          <p:cNvSpPr txBox="1"/>
          <p:nvPr/>
        </p:nvSpPr>
        <p:spPr>
          <a:xfrm>
            <a:off x="6848855" y="4407408"/>
            <a:ext cx="292609" cy="153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54" name="TextBox 30"/>
          <p:cNvSpPr txBox="1"/>
          <p:nvPr/>
        </p:nvSpPr>
        <p:spPr>
          <a:xfrm>
            <a:off x="7251191" y="4398264"/>
            <a:ext cx="6217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可复盘</a:t>
            </a:r>
          </a:p>
        </p:txBody>
      </p:sp>
      <p:sp>
        <p:nvSpPr>
          <p:cNvPr id="255" name="TextBox 31"/>
          <p:cNvSpPr txBox="1"/>
          <p:nvPr/>
        </p:nvSpPr>
        <p:spPr>
          <a:xfrm>
            <a:off x="7891270" y="4398264"/>
            <a:ext cx="3200401" cy="440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11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用网页、</a:t>
            </a:r>
            <a:r>
              <a:t>GitHub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、文档保存过程，而不是只留下结果。</a:t>
            </a:r>
          </a:p>
        </p:txBody>
      </p:sp>
      <p:sp>
        <p:nvSpPr>
          <p:cNvPr id="256" name="TextBox 32"/>
          <p:cNvSpPr txBox="1"/>
          <p:nvPr/>
        </p:nvSpPr>
        <p:spPr>
          <a:xfrm>
            <a:off x="923543" y="5532120"/>
            <a:ext cx="10314434" cy="284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 algn="ctr">
              <a:lnSpc>
                <a:spcPct val="108000"/>
              </a:lnSpc>
              <a:defRPr sz="1500">
                <a:solidFill>
                  <a:srgbClr val="121B27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关键词：自驱探索 </a:t>
            </a:r>
            <a:r>
              <a:t>/ 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独立规划  </a:t>
            </a:r>
            <a:r>
              <a:t>/ 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持续迭代</a:t>
            </a:r>
          </a:p>
        </p:txBody>
      </p:sp>
      <p:sp>
        <p:nvSpPr>
          <p:cNvPr id="257" name="Connector 33"/>
          <p:cNvSpPr/>
          <p:nvPr/>
        </p:nvSpPr>
        <p:spPr>
          <a:xfrm>
            <a:off x="566927" y="6419088"/>
            <a:ext cx="11064242" cy="1"/>
          </a:xfrm>
          <a:prstGeom prst="line">
            <a:avLst/>
          </a:prstGeom>
          <a:ln w="8890">
            <a:solidFill>
              <a:srgbClr val="D7DEE6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58" name="TextBox 34"/>
          <p:cNvSpPr txBox="1"/>
          <p:nvPr/>
        </p:nvSpPr>
        <p:spPr>
          <a:xfrm>
            <a:off x="576071" y="6483096"/>
            <a:ext cx="5376674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齐恒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东华大学物理学院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应用物理学（新能源与微电子）</a:t>
            </a:r>
          </a:p>
        </p:txBody>
      </p:sp>
      <p:sp>
        <p:nvSpPr>
          <p:cNvPr id="259" name="TextBox 35"/>
          <p:cNvSpPr txBox="1"/>
          <p:nvPr/>
        </p:nvSpPr>
        <p:spPr>
          <a:xfrm>
            <a:off x="5129784" y="6483096"/>
            <a:ext cx="354787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800">
                <a:solidFill>
                  <a:srgbClr val="7F8D9D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西湖大学理学院夏令营个人成果汇报</a:t>
            </a:r>
          </a:p>
        </p:txBody>
      </p:sp>
      <p:sp>
        <p:nvSpPr>
          <p:cNvPr id="260" name="TextBox 36"/>
          <p:cNvSpPr txBox="1"/>
          <p:nvPr/>
        </p:nvSpPr>
        <p:spPr>
          <a:xfrm>
            <a:off x="11045951" y="6483096"/>
            <a:ext cx="5852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8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lvl1pPr>
          </a:lstStyle>
          <a:p>
            <a:pPr/>
            <a:r>
              <a:t>04/06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566927" y="393191"/>
            <a:ext cx="82297" cy="228601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3" name="TextBox 2"/>
          <p:cNvSpPr txBox="1"/>
          <p:nvPr/>
        </p:nvSpPr>
        <p:spPr>
          <a:xfrm>
            <a:off x="722375" y="347472"/>
            <a:ext cx="26334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PHD PLAN</a:t>
            </a:r>
          </a:p>
        </p:txBody>
      </p:sp>
      <p:sp>
        <p:nvSpPr>
          <p:cNvPr id="264" name="TextBox 3"/>
          <p:cNvSpPr txBox="1"/>
          <p:nvPr/>
        </p:nvSpPr>
        <p:spPr>
          <a:xfrm>
            <a:off x="10479024" y="347472"/>
            <a:ext cx="115214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博士阶段科研计划</a:t>
            </a:r>
          </a:p>
        </p:txBody>
      </p:sp>
      <p:sp>
        <p:nvSpPr>
          <p:cNvPr id="265" name="TextBox 4"/>
          <p:cNvSpPr txBox="1"/>
          <p:nvPr/>
        </p:nvSpPr>
        <p:spPr>
          <a:xfrm>
            <a:off x="576071" y="768096"/>
            <a:ext cx="8759954" cy="475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25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博士阶段：从方向兴趣到可验证问题</a:t>
            </a:r>
          </a:p>
        </p:txBody>
      </p:sp>
      <p:sp>
        <p:nvSpPr>
          <p:cNvPr id="266" name="Rounded Rectangle 6"/>
          <p:cNvSpPr/>
          <p:nvPr/>
        </p:nvSpPr>
        <p:spPr>
          <a:xfrm>
            <a:off x="658368" y="1847088"/>
            <a:ext cx="2148840" cy="192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7" name="TextBox 7"/>
          <p:cNvSpPr txBox="1"/>
          <p:nvPr/>
        </p:nvSpPr>
        <p:spPr>
          <a:xfrm>
            <a:off x="905255" y="2130551"/>
            <a:ext cx="1216153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兴趣来源</a:t>
            </a:r>
          </a:p>
        </p:txBody>
      </p:sp>
      <p:sp>
        <p:nvSpPr>
          <p:cNvPr id="268" name="TextBox 8"/>
          <p:cNvSpPr txBox="1"/>
          <p:nvPr/>
        </p:nvSpPr>
        <p:spPr>
          <a:xfrm>
            <a:off x="905255" y="2587751"/>
            <a:ext cx="1645920" cy="9596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12000"/>
              </a:lnSpc>
              <a:defRPr sz="1200">
                <a:solidFill>
                  <a:srgbClr val="606C7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南科大夏令营交流让我集中接触到生物物理、凝聚态、计算物理 </a:t>
            </a:r>
            <a:r>
              <a:t>/ AI </a:t>
            </a:r>
            <a:r>
              <a:rPr b="1">
                <a:latin typeface="+mn-lt"/>
                <a:ea typeface="+mn-ea"/>
                <a:cs typeface="+mn-cs"/>
                <a:sym typeface="Helvetica"/>
              </a:rPr>
              <a:t>等方向。</a:t>
            </a:r>
          </a:p>
        </p:txBody>
      </p:sp>
      <p:sp>
        <p:nvSpPr>
          <p:cNvPr id="269" name="Connector 9"/>
          <p:cNvSpPr/>
          <p:nvPr/>
        </p:nvSpPr>
        <p:spPr>
          <a:xfrm>
            <a:off x="2852927" y="2779776"/>
            <a:ext cx="365761" cy="1"/>
          </a:xfrm>
          <a:prstGeom prst="line">
            <a:avLst/>
          </a:prstGeom>
          <a:ln w="22860">
            <a:solidFill>
              <a:srgbClr val="127584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70" name="Rounded Rectangle 10"/>
          <p:cNvSpPr/>
          <p:nvPr/>
        </p:nvSpPr>
        <p:spPr>
          <a:xfrm>
            <a:off x="3218688" y="1847088"/>
            <a:ext cx="5468112" cy="192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9FC9D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11"/>
          <p:cNvSpPr txBox="1"/>
          <p:nvPr/>
        </p:nvSpPr>
        <p:spPr>
          <a:xfrm>
            <a:off x="3538728" y="2112264"/>
            <a:ext cx="1261873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核心问题</a:t>
            </a:r>
          </a:p>
        </p:txBody>
      </p:sp>
      <p:sp>
        <p:nvSpPr>
          <p:cNvPr id="272" name="TextBox 12"/>
          <p:cNvSpPr txBox="1"/>
          <p:nvPr/>
        </p:nvSpPr>
        <p:spPr>
          <a:xfrm>
            <a:off x="3524095" y="2426525"/>
            <a:ext cx="4599433" cy="1402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spcBef>
                <a:spcPts val="1200"/>
              </a:spcBef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如何从已有的实验数据或观测现象出发，提出合理的物理假设，通过计算模拟和建模形成机制性解释，最后再用这个模型去预测相似体系中的行为。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spcBef>
                <a:spcPts val="1200"/>
              </a:spcBef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73" name="Connector 14"/>
          <p:cNvSpPr/>
          <p:nvPr/>
        </p:nvSpPr>
        <p:spPr>
          <a:xfrm>
            <a:off x="8705088" y="2779776"/>
            <a:ext cx="347473" cy="1"/>
          </a:xfrm>
          <a:prstGeom prst="line">
            <a:avLst/>
          </a:prstGeom>
          <a:ln w="22860">
            <a:solidFill>
              <a:srgbClr val="127584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74" name="Rounded Rectangle 15"/>
          <p:cNvSpPr/>
          <p:nvPr/>
        </p:nvSpPr>
        <p:spPr>
          <a:xfrm>
            <a:off x="9052559" y="1847088"/>
            <a:ext cx="2450593" cy="192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16"/>
          <p:cNvSpPr txBox="1"/>
          <p:nvPr/>
        </p:nvSpPr>
        <p:spPr>
          <a:xfrm>
            <a:off x="9317736" y="2130551"/>
            <a:ext cx="1170433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长期目标</a:t>
            </a:r>
          </a:p>
        </p:txBody>
      </p:sp>
      <p:sp>
        <p:nvSpPr>
          <p:cNvPr id="276" name="TextBox 17"/>
          <p:cNvSpPr txBox="1"/>
          <p:nvPr/>
        </p:nvSpPr>
        <p:spPr>
          <a:xfrm>
            <a:off x="9266238" y="2388171"/>
            <a:ext cx="1737361" cy="1316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12000"/>
              </a:lnSpc>
              <a:defRPr sz="1100">
                <a:solidFill>
                  <a:srgbClr val="606C7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把物理直觉、计算方法和交叉科学问题连接起来。</a:t>
            </a:r>
            <a:endParaRPr b="1"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112000"/>
              </a:lnSpc>
              <a:defRPr sz="1100">
                <a:solidFill>
                  <a:srgbClr val="606C7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endParaRPr b="1"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112000"/>
              </a:lnSpc>
              <a:defRPr sz="1100">
                <a:solidFill>
                  <a:srgbClr val="606C7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在具体课题组中，把兴趣收束为可计算、可验证、可解释的研究问题。</a:t>
            </a:r>
          </a:p>
        </p:txBody>
      </p:sp>
      <p:sp>
        <p:nvSpPr>
          <p:cNvPr id="277" name="Rounded Rectangle 18"/>
          <p:cNvSpPr/>
          <p:nvPr/>
        </p:nvSpPr>
        <p:spPr>
          <a:xfrm>
            <a:off x="566419" y="4221003"/>
            <a:ext cx="3337561" cy="676657"/>
          </a:xfrm>
          <a:prstGeom prst="roundRect">
            <a:avLst>
              <a:gd name="adj" fmla="val 16667"/>
            </a:avLst>
          </a:prstGeom>
          <a:solidFill>
            <a:srgbClr val="EDF7F1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</a:p>
        </p:txBody>
      </p:sp>
      <p:sp>
        <p:nvSpPr>
          <p:cNvPr id="278" name="TextBox 20"/>
          <p:cNvSpPr txBox="1"/>
          <p:nvPr/>
        </p:nvSpPr>
        <p:spPr>
          <a:xfrm>
            <a:off x="1042415" y="4334255"/>
            <a:ext cx="978410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1300">
                <a:solidFill>
                  <a:srgbClr val="4F805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生物物理</a:t>
            </a:r>
          </a:p>
        </p:txBody>
      </p:sp>
      <p:sp>
        <p:nvSpPr>
          <p:cNvPr id="279" name="TextBox 21"/>
          <p:cNvSpPr txBox="1"/>
          <p:nvPr/>
        </p:nvSpPr>
        <p:spPr>
          <a:xfrm>
            <a:off x="987551" y="4553711"/>
            <a:ext cx="277063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蛋白质构象、分子动力学、生命系统功能</a:t>
            </a:r>
          </a:p>
        </p:txBody>
      </p:sp>
      <p:sp>
        <p:nvSpPr>
          <p:cNvPr id="280" name="Rounded Rectangle 22"/>
          <p:cNvSpPr/>
          <p:nvPr/>
        </p:nvSpPr>
        <p:spPr>
          <a:xfrm>
            <a:off x="4420870" y="4199446"/>
            <a:ext cx="3337560" cy="676657"/>
          </a:xfrm>
          <a:prstGeom prst="roundRect">
            <a:avLst>
              <a:gd name="adj" fmla="val 16667"/>
            </a:avLst>
          </a:prstGeom>
          <a:solidFill>
            <a:srgbClr val="FFF7EB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</a:p>
        </p:txBody>
      </p:sp>
      <p:sp>
        <p:nvSpPr>
          <p:cNvPr id="281" name="TextBox 24"/>
          <p:cNvSpPr txBox="1"/>
          <p:nvPr/>
        </p:nvSpPr>
        <p:spPr>
          <a:xfrm>
            <a:off x="4828032" y="4334255"/>
            <a:ext cx="978409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b="1" sz="1300">
                <a:solidFill>
                  <a:srgbClr val="C48436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凝聚态物理</a:t>
            </a:r>
          </a:p>
        </p:txBody>
      </p:sp>
      <p:sp>
        <p:nvSpPr>
          <p:cNvPr id="282" name="TextBox 25"/>
          <p:cNvSpPr txBox="1"/>
          <p:nvPr/>
        </p:nvSpPr>
        <p:spPr>
          <a:xfrm>
            <a:off x="4773167" y="4553711"/>
            <a:ext cx="277063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晶体结构、电子结构、材料物性与实验反馈</a:t>
            </a:r>
          </a:p>
        </p:txBody>
      </p:sp>
      <p:sp>
        <p:nvSpPr>
          <p:cNvPr id="283" name="Rounded Rectangle 26"/>
          <p:cNvSpPr/>
          <p:nvPr/>
        </p:nvSpPr>
        <p:spPr>
          <a:xfrm>
            <a:off x="8275320" y="4188999"/>
            <a:ext cx="3337561" cy="676657"/>
          </a:xfrm>
          <a:prstGeom prst="roundRect">
            <a:avLst>
              <a:gd name="adj" fmla="val 16667"/>
            </a:avLst>
          </a:prstGeom>
          <a:solidFill>
            <a:srgbClr val="F4F0F7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</a:p>
        </p:txBody>
      </p:sp>
      <p:sp>
        <p:nvSpPr>
          <p:cNvPr id="284" name="TextBox 28"/>
          <p:cNvSpPr txBox="1"/>
          <p:nvPr/>
        </p:nvSpPr>
        <p:spPr>
          <a:xfrm>
            <a:off x="8558784" y="4316164"/>
            <a:ext cx="1252729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 algn="ctr">
              <a:lnSpc>
                <a:spcPct val="108000"/>
              </a:lnSpc>
              <a:defRPr sz="1300">
                <a:solidFill>
                  <a:srgbClr val="665080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计算物理 </a:t>
            </a:r>
            <a:r>
              <a:t>/ AI</a:t>
            </a:r>
          </a:p>
        </p:txBody>
      </p:sp>
      <p:sp>
        <p:nvSpPr>
          <p:cNvPr id="285" name="TextBox 29"/>
          <p:cNvSpPr txBox="1"/>
          <p:nvPr/>
        </p:nvSpPr>
        <p:spPr>
          <a:xfrm>
            <a:off x="8558784" y="4553711"/>
            <a:ext cx="277063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数值模拟、机器学习、数据反演与模型解释</a:t>
            </a:r>
          </a:p>
        </p:txBody>
      </p:sp>
      <p:sp>
        <p:nvSpPr>
          <p:cNvPr id="286" name="Rounded Rectangle 31"/>
          <p:cNvSpPr/>
          <p:nvPr/>
        </p:nvSpPr>
        <p:spPr>
          <a:xfrm>
            <a:off x="676655" y="5145722"/>
            <a:ext cx="2514601" cy="1072200"/>
          </a:xfrm>
          <a:prstGeom prst="roundRect">
            <a:avLst>
              <a:gd name="adj" fmla="val 12508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Oval 32"/>
          <p:cNvSpPr/>
          <p:nvPr/>
        </p:nvSpPr>
        <p:spPr>
          <a:xfrm>
            <a:off x="850391" y="5346890"/>
            <a:ext cx="329185" cy="329185"/>
          </a:xfrm>
          <a:prstGeom prst="ellipse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33"/>
          <p:cNvSpPr txBox="1"/>
          <p:nvPr/>
        </p:nvSpPr>
        <p:spPr>
          <a:xfrm>
            <a:off x="943660" y="5450217"/>
            <a:ext cx="12801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89" name="TextBox 34"/>
          <p:cNvSpPr txBox="1"/>
          <p:nvPr/>
        </p:nvSpPr>
        <p:spPr>
          <a:xfrm>
            <a:off x="1307591" y="5282882"/>
            <a:ext cx="10789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补基础</a:t>
            </a:r>
          </a:p>
        </p:txBody>
      </p:sp>
      <p:sp>
        <p:nvSpPr>
          <p:cNvPr id="290" name="TextBox 35"/>
          <p:cNvSpPr txBox="1"/>
          <p:nvPr/>
        </p:nvSpPr>
        <p:spPr>
          <a:xfrm>
            <a:off x="1307592" y="5575490"/>
            <a:ext cx="1645919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2000"/>
              </a:lnSpc>
              <a:defRPr sz="10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统计物理、凝聚态 </a:t>
            </a:r>
            <a:r>
              <a:t>/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生物物理、分子模拟或第一性原理、机器学习。</a:t>
            </a:r>
          </a:p>
        </p:txBody>
      </p:sp>
      <p:sp>
        <p:nvSpPr>
          <p:cNvPr id="291" name="Rounded Rectangle 36"/>
          <p:cNvSpPr/>
          <p:nvPr/>
        </p:nvSpPr>
        <p:spPr>
          <a:xfrm>
            <a:off x="3493008" y="5145722"/>
            <a:ext cx="2514601" cy="1072200"/>
          </a:xfrm>
          <a:prstGeom prst="roundRect">
            <a:avLst>
              <a:gd name="adj" fmla="val 12508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2" name="Oval 37"/>
          <p:cNvSpPr/>
          <p:nvPr/>
        </p:nvSpPr>
        <p:spPr>
          <a:xfrm>
            <a:off x="3666744" y="5346890"/>
            <a:ext cx="329185" cy="329185"/>
          </a:xfrm>
          <a:prstGeom prst="ellipse">
            <a:avLst/>
          </a:prstGeom>
          <a:solidFill>
            <a:srgbClr val="4F805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TextBox 38"/>
          <p:cNvSpPr txBox="1"/>
          <p:nvPr/>
        </p:nvSpPr>
        <p:spPr>
          <a:xfrm>
            <a:off x="3760011" y="5450217"/>
            <a:ext cx="12801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94" name="TextBox 39"/>
          <p:cNvSpPr txBox="1"/>
          <p:nvPr/>
        </p:nvSpPr>
        <p:spPr>
          <a:xfrm>
            <a:off x="4123943" y="5282882"/>
            <a:ext cx="1078994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复现代表作</a:t>
            </a:r>
          </a:p>
        </p:txBody>
      </p:sp>
      <p:sp>
        <p:nvSpPr>
          <p:cNvPr id="295" name="TextBox 40"/>
          <p:cNvSpPr txBox="1"/>
          <p:nvPr/>
        </p:nvSpPr>
        <p:spPr>
          <a:xfrm>
            <a:off x="4123944" y="5575490"/>
            <a:ext cx="1645919" cy="636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2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复现方法与结果，训练文献阅读、代码复现和结果复核。</a:t>
            </a:r>
          </a:p>
        </p:txBody>
      </p:sp>
      <p:sp>
        <p:nvSpPr>
          <p:cNvPr id="296" name="Rounded Rectangle 41"/>
          <p:cNvSpPr/>
          <p:nvPr/>
        </p:nvSpPr>
        <p:spPr>
          <a:xfrm>
            <a:off x="6309359" y="5145722"/>
            <a:ext cx="2514601" cy="1022732"/>
          </a:xfrm>
          <a:prstGeom prst="roundRect">
            <a:avLst>
              <a:gd name="adj" fmla="val 13113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7" name="Oval 42"/>
          <p:cNvSpPr/>
          <p:nvPr/>
        </p:nvSpPr>
        <p:spPr>
          <a:xfrm>
            <a:off x="6483096" y="5346890"/>
            <a:ext cx="329185" cy="329185"/>
          </a:xfrm>
          <a:prstGeom prst="ellipse">
            <a:avLst/>
          </a:prstGeom>
          <a:solidFill>
            <a:srgbClr val="C4843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8" name="TextBox 43"/>
          <p:cNvSpPr txBox="1"/>
          <p:nvPr/>
        </p:nvSpPr>
        <p:spPr>
          <a:xfrm>
            <a:off x="6576364" y="5450217"/>
            <a:ext cx="12801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99" name="TextBox 44"/>
          <p:cNvSpPr txBox="1"/>
          <p:nvPr/>
        </p:nvSpPr>
        <p:spPr>
          <a:xfrm>
            <a:off x="6940296" y="5282882"/>
            <a:ext cx="10789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选具体体系</a:t>
            </a:r>
          </a:p>
        </p:txBody>
      </p:sp>
      <p:sp>
        <p:nvSpPr>
          <p:cNvPr id="300" name="TextBox 45"/>
          <p:cNvSpPr txBox="1"/>
          <p:nvPr/>
        </p:nvSpPr>
        <p:spPr>
          <a:xfrm>
            <a:off x="6879425" y="5536882"/>
            <a:ext cx="1645920" cy="636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2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跟随导师方向，在蛋白质或材料体系中找到可计算问题。</a:t>
            </a:r>
          </a:p>
        </p:txBody>
      </p:sp>
      <p:sp>
        <p:nvSpPr>
          <p:cNvPr id="301" name="Rounded Rectangle 46"/>
          <p:cNvSpPr/>
          <p:nvPr/>
        </p:nvSpPr>
        <p:spPr>
          <a:xfrm>
            <a:off x="9125711" y="5145722"/>
            <a:ext cx="2514601" cy="1022732"/>
          </a:xfrm>
          <a:prstGeom prst="roundRect">
            <a:avLst>
              <a:gd name="adj" fmla="val 13113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Oval 47"/>
          <p:cNvSpPr/>
          <p:nvPr/>
        </p:nvSpPr>
        <p:spPr>
          <a:xfrm>
            <a:off x="9299447" y="5346890"/>
            <a:ext cx="329185" cy="329185"/>
          </a:xfrm>
          <a:prstGeom prst="ellipse">
            <a:avLst/>
          </a:prstGeom>
          <a:solidFill>
            <a:srgbClr val="66508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3" name="TextBox 48"/>
          <p:cNvSpPr txBox="1"/>
          <p:nvPr/>
        </p:nvSpPr>
        <p:spPr>
          <a:xfrm>
            <a:off x="9392716" y="5450217"/>
            <a:ext cx="128017" cy="19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14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04" name="TextBox 49"/>
          <p:cNvSpPr txBox="1"/>
          <p:nvPr/>
        </p:nvSpPr>
        <p:spPr>
          <a:xfrm>
            <a:off x="9756648" y="5282882"/>
            <a:ext cx="107899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形成输出</a:t>
            </a:r>
          </a:p>
        </p:txBody>
      </p:sp>
      <p:sp>
        <p:nvSpPr>
          <p:cNvPr id="305" name="TextBox 50"/>
          <p:cNvSpPr txBox="1"/>
          <p:nvPr/>
        </p:nvSpPr>
        <p:spPr>
          <a:xfrm>
            <a:off x="9756648" y="5575490"/>
            <a:ext cx="1645920" cy="4287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2000"/>
              </a:lnSpc>
              <a:defRPr sz="11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沉淀可复现代码、可验证模型和物理机制解释。</a:t>
            </a:r>
          </a:p>
        </p:txBody>
      </p:sp>
      <p:sp>
        <p:nvSpPr>
          <p:cNvPr id="306" name="Connector 51"/>
          <p:cNvSpPr/>
          <p:nvPr/>
        </p:nvSpPr>
        <p:spPr>
          <a:xfrm>
            <a:off x="566927" y="6419088"/>
            <a:ext cx="11064242" cy="1"/>
          </a:xfrm>
          <a:prstGeom prst="line">
            <a:avLst/>
          </a:prstGeom>
          <a:ln w="8890">
            <a:solidFill>
              <a:srgbClr val="D7DEE6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07" name="TextBox 52"/>
          <p:cNvSpPr txBox="1"/>
          <p:nvPr/>
        </p:nvSpPr>
        <p:spPr>
          <a:xfrm>
            <a:off x="576071" y="6483096"/>
            <a:ext cx="5376674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8000"/>
              </a:lnSpc>
              <a:defRPr sz="800">
                <a:solidFill>
                  <a:srgbClr val="606C7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齐恒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东华大学物理学院 </a:t>
            </a:r>
            <a:r>
              <a:t>·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应用物理学（新能源与微电子）</a:t>
            </a:r>
          </a:p>
        </p:txBody>
      </p:sp>
      <p:sp>
        <p:nvSpPr>
          <p:cNvPr id="308" name="TextBox 53"/>
          <p:cNvSpPr txBox="1"/>
          <p:nvPr/>
        </p:nvSpPr>
        <p:spPr>
          <a:xfrm>
            <a:off x="5129784" y="6483096"/>
            <a:ext cx="3547872" cy="157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800">
                <a:solidFill>
                  <a:srgbClr val="7F8D9D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西湖大学理学院夏令营个人成果汇报</a:t>
            </a:r>
          </a:p>
        </p:txBody>
      </p:sp>
      <p:sp>
        <p:nvSpPr>
          <p:cNvPr id="309" name="TextBox 54"/>
          <p:cNvSpPr txBox="1"/>
          <p:nvPr/>
        </p:nvSpPr>
        <p:spPr>
          <a:xfrm>
            <a:off x="11045951" y="6483096"/>
            <a:ext cx="5852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8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lvl1pPr>
          </a:lstStyle>
          <a:p>
            <a:pPr/>
            <a:r>
              <a:t>05/06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566927" y="393191"/>
            <a:ext cx="82297" cy="228601"/>
          </a:xfrm>
          <a:prstGeom prst="rect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"/>
          <p:cNvSpPr txBox="1"/>
          <p:nvPr/>
        </p:nvSpPr>
        <p:spPr>
          <a:xfrm>
            <a:off x="722375" y="347472"/>
            <a:ext cx="26334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800">
                <a:solidFill>
                  <a:srgbClr val="606C7A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CLOSING</a:t>
            </a:r>
          </a:p>
        </p:txBody>
      </p:sp>
      <p:sp>
        <p:nvSpPr>
          <p:cNvPr id="313" name="TextBox 3"/>
          <p:cNvSpPr txBox="1"/>
          <p:nvPr/>
        </p:nvSpPr>
        <p:spPr>
          <a:xfrm>
            <a:off x="10479023" y="347472"/>
            <a:ext cx="1152145" cy="183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r">
              <a:lnSpc>
                <a:spcPct val="108000"/>
              </a:lnSpc>
              <a:defRPr sz="9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收束与问答</a:t>
            </a:r>
          </a:p>
        </p:txBody>
      </p:sp>
      <p:sp>
        <p:nvSpPr>
          <p:cNvPr id="314" name="TextBox 4"/>
          <p:cNvSpPr txBox="1"/>
          <p:nvPr/>
        </p:nvSpPr>
        <p:spPr>
          <a:xfrm>
            <a:off x="649224" y="960119"/>
            <a:ext cx="5650992" cy="437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24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我希望西湖看到的是一个完整的人</a:t>
            </a:r>
          </a:p>
        </p:txBody>
      </p:sp>
      <p:sp>
        <p:nvSpPr>
          <p:cNvPr id="315" name="TextBox 5"/>
          <p:cNvSpPr txBox="1"/>
          <p:nvPr/>
        </p:nvSpPr>
        <p:spPr>
          <a:xfrm>
            <a:off x="667511" y="1572767"/>
            <a:ext cx="6016754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2A344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基础扎实，但还在收敛方向；成果不算成熟，但自驱探索和实现能力真实存在。</a:t>
            </a:r>
          </a:p>
        </p:txBody>
      </p:sp>
      <p:sp>
        <p:nvSpPr>
          <p:cNvPr id="316" name="Rounded Rectangle 6"/>
          <p:cNvSpPr/>
          <p:nvPr/>
        </p:nvSpPr>
        <p:spPr>
          <a:xfrm>
            <a:off x="658368" y="2130551"/>
            <a:ext cx="5989321" cy="65836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7" name="Oval 7"/>
          <p:cNvSpPr/>
          <p:nvPr/>
        </p:nvSpPr>
        <p:spPr>
          <a:xfrm>
            <a:off x="749808" y="2286000"/>
            <a:ext cx="292609" cy="292609"/>
          </a:xfrm>
          <a:prstGeom prst="ellipse">
            <a:avLst/>
          </a:prstGeom>
          <a:solidFill>
            <a:srgbClr val="12758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8" name="TextBox 8"/>
          <p:cNvSpPr txBox="1"/>
          <p:nvPr/>
        </p:nvSpPr>
        <p:spPr>
          <a:xfrm>
            <a:off x="841247" y="2382011"/>
            <a:ext cx="1097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6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19" name="TextBox 9"/>
          <p:cNvSpPr txBox="1"/>
          <p:nvPr/>
        </p:nvSpPr>
        <p:spPr>
          <a:xfrm>
            <a:off x="1216152" y="2240279"/>
            <a:ext cx="1673352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学术底座</a:t>
            </a:r>
          </a:p>
        </p:txBody>
      </p:sp>
      <p:sp>
        <p:nvSpPr>
          <p:cNvPr id="320" name="TextBox 10"/>
          <p:cNvSpPr txBox="1"/>
          <p:nvPr/>
        </p:nvSpPr>
        <p:spPr>
          <a:xfrm>
            <a:off x="2916936" y="2258567"/>
            <a:ext cx="3456433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物理与数学课程支撑后续建模和数值训练。</a:t>
            </a:r>
          </a:p>
        </p:txBody>
      </p:sp>
      <p:sp>
        <p:nvSpPr>
          <p:cNvPr id="321" name="Rounded Rectangle 11"/>
          <p:cNvSpPr/>
          <p:nvPr/>
        </p:nvSpPr>
        <p:spPr>
          <a:xfrm>
            <a:off x="658368" y="3044951"/>
            <a:ext cx="5989321" cy="65836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Oval 12"/>
          <p:cNvSpPr/>
          <p:nvPr/>
        </p:nvSpPr>
        <p:spPr>
          <a:xfrm>
            <a:off x="749808" y="3200400"/>
            <a:ext cx="292609" cy="292609"/>
          </a:xfrm>
          <a:prstGeom prst="ellipse">
            <a:avLst/>
          </a:prstGeom>
          <a:solidFill>
            <a:srgbClr val="4F805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TextBox 13"/>
          <p:cNvSpPr txBox="1"/>
          <p:nvPr/>
        </p:nvSpPr>
        <p:spPr>
          <a:xfrm>
            <a:off x="841247" y="3296411"/>
            <a:ext cx="1097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6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24" name="TextBox 14"/>
          <p:cNvSpPr txBox="1"/>
          <p:nvPr/>
        </p:nvSpPr>
        <p:spPr>
          <a:xfrm>
            <a:off x="1216152" y="3154679"/>
            <a:ext cx="1673352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自驱探索</a:t>
            </a:r>
          </a:p>
        </p:txBody>
      </p:sp>
      <p:sp>
        <p:nvSpPr>
          <p:cNvPr id="325" name="TextBox 15"/>
          <p:cNvSpPr txBox="1"/>
          <p:nvPr/>
        </p:nvSpPr>
        <p:spPr>
          <a:xfrm>
            <a:off x="2916936" y="3172967"/>
            <a:ext cx="3456433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从徒步旅行到主动做项目，习惯先行动再迭代。</a:t>
            </a:r>
          </a:p>
        </p:txBody>
      </p:sp>
      <p:sp>
        <p:nvSpPr>
          <p:cNvPr id="326" name="Rounded Rectangle 16"/>
          <p:cNvSpPr/>
          <p:nvPr/>
        </p:nvSpPr>
        <p:spPr>
          <a:xfrm>
            <a:off x="658368" y="3959352"/>
            <a:ext cx="5989321" cy="658369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8890">
            <a:solidFill>
              <a:srgbClr val="D8E3E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Oval 17"/>
          <p:cNvSpPr/>
          <p:nvPr/>
        </p:nvSpPr>
        <p:spPr>
          <a:xfrm>
            <a:off x="749808" y="4114800"/>
            <a:ext cx="292609" cy="292609"/>
          </a:xfrm>
          <a:prstGeom prst="ellipse">
            <a:avLst/>
          </a:prstGeom>
          <a:solidFill>
            <a:srgbClr val="C4843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18"/>
          <p:cNvSpPr txBox="1"/>
          <p:nvPr/>
        </p:nvSpPr>
        <p:spPr>
          <a:xfrm>
            <a:off x="841247" y="4210811"/>
            <a:ext cx="1097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 algn="ctr">
              <a:lnSpc>
                <a:spcPct val="108000"/>
              </a:lnSpc>
              <a:defRPr sz="600">
                <a:solidFill>
                  <a:srgbClr val="FFFFFF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29" name="TextBox 19"/>
          <p:cNvSpPr txBox="1"/>
          <p:nvPr/>
        </p:nvSpPr>
        <p:spPr>
          <a:xfrm>
            <a:off x="1216152" y="4069079"/>
            <a:ext cx="1673352" cy="246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300">
                <a:solidFill>
                  <a:srgbClr val="121B27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可复现能力</a:t>
            </a:r>
          </a:p>
        </p:txBody>
      </p:sp>
      <p:sp>
        <p:nvSpPr>
          <p:cNvPr id="330" name="TextBox 20"/>
          <p:cNvSpPr txBox="1"/>
          <p:nvPr/>
        </p:nvSpPr>
        <p:spPr>
          <a:xfrm>
            <a:off x="2916936" y="4087367"/>
            <a:ext cx="3456433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606C7A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PingFang SC Regular"/>
                <a:ea typeface="PingFang SC Regular"/>
                <a:cs typeface="PingFang SC Regular"/>
                <a:sym typeface="PingFang SC Regular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用代码、网页和文档沉淀问题、方法和结果。</a:t>
            </a:r>
          </a:p>
        </p:txBody>
      </p:sp>
      <p:sp>
        <p:nvSpPr>
          <p:cNvPr id="331" name="Rounded Rectangle 21"/>
          <p:cNvSpPr/>
          <p:nvPr/>
        </p:nvSpPr>
        <p:spPr>
          <a:xfrm>
            <a:off x="7223759" y="1078991"/>
            <a:ext cx="4069081" cy="4096513"/>
          </a:xfrm>
          <a:prstGeom prst="roundRect">
            <a:avLst>
              <a:gd name="adj" fmla="val 16667"/>
            </a:avLst>
          </a:prstGeom>
          <a:solidFill>
            <a:srgbClr val="E8F1F2"/>
          </a:solidFill>
          <a:ln w="8890">
            <a:solidFill>
              <a:srgbClr val="C9DCD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2" name="TextBox 22"/>
          <p:cNvSpPr txBox="1"/>
          <p:nvPr/>
        </p:nvSpPr>
        <p:spPr>
          <a:xfrm>
            <a:off x="7552943" y="1444752"/>
            <a:ext cx="1124713" cy="221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100">
                <a:solidFill>
                  <a:srgbClr val="12758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汇报收束</a:t>
            </a:r>
          </a:p>
        </p:txBody>
      </p:sp>
      <p:sp>
        <p:nvSpPr>
          <p:cNvPr id="333" name="TextBox 23"/>
          <p:cNvSpPr txBox="1"/>
          <p:nvPr/>
        </p:nvSpPr>
        <p:spPr>
          <a:xfrm>
            <a:off x="7525511" y="1874518"/>
            <a:ext cx="3319273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05999"/>
              </a:lnSpc>
              <a:defRPr sz="2400">
                <a:solidFill>
                  <a:srgbClr val="111F2B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把探索未知的习惯，</a:t>
            </a:r>
            <a:endParaRPr b="1"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105999"/>
              </a:lnSpc>
              <a:defRPr sz="2400">
                <a:solidFill>
                  <a:srgbClr val="111F2B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转化为扎实、可复现的科研能力。</a:t>
            </a:r>
          </a:p>
        </p:txBody>
      </p:sp>
      <p:sp>
        <p:nvSpPr>
          <p:cNvPr id="334" name="TextBox 24"/>
          <p:cNvSpPr txBox="1"/>
          <p:nvPr/>
        </p:nvSpPr>
        <p:spPr>
          <a:xfrm>
            <a:off x="7552943" y="3246120"/>
            <a:ext cx="2953513" cy="234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b="1" sz="1200">
                <a:solidFill>
                  <a:srgbClr val="2A344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 b="0"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希望在西湖接受更严格、长期的科研训练。</a:t>
            </a:r>
          </a:p>
        </p:txBody>
      </p:sp>
      <p:sp>
        <p:nvSpPr>
          <p:cNvPr id="335" name="TextBox 25"/>
          <p:cNvSpPr txBox="1"/>
          <p:nvPr/>
        </p:nvSpPr>
        <p:spPr>
          <a:xfrm>
            <a:off x="7552943" y="4160520"/>
            <a:ext cx="2980945" cy="384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>
              <a:lnSpc>
                <a:spcPct val="112000"/>
              </a:lnSpc>
              <a:defRPr sz="9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pPr>
            <a:r>
              <a:t>hengqi61@gmail.com</a:t>
            </a:r>
          </a:p>
          <a:p>
            <a:pPr>
              <a:lnSpc>
                <a:spcPct val="112000"/>
              </a:lnSpc>
              <a:defRPr sz="9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pPr>
            <a:r>
              <a:t>github.com/hengqi61-maker</a:t>
            </a:r>
          </a:p>
          <a:p>
            <a:pPr>
              <a:lnSpc>
                <a:spcPct val="112000"/>
              </a:lnSpc>
              <a:defRPr sz="900">
                <a:solidFill>
                  <a:srgbClr val="606C7A"/>
                </a:solidFill>
                <a:latin typeface="Heiti SC Light"/>
                <a:ea typeface="Heiti SC Light"/>
                <a:cs typeface="Heiti SC Light"/>
                <a:sym typeface="Heiti SC Light"/>
              </a:defRPr>
            </a:pPr>
            <a:r>
              <a:t>hengqi61-maker.github.io</a:t>
            </a:r>
          </a:p>
        </p:txBody>
      </p:sp>
      <p:sp>
        <p:nvSpPr>
          <p:cNvPr id="336" name="Connector 26"/>
          <p:cNvSpPr/>
          <p:nvPr/>
        </p:nvSpPr>
        <p:spPr>
          <a:xfrm>
            <a:off x="658368" y="5870447"/>
            <a:ext cx="5971033" cy="1"/>
          </a:xfrm>
          <a:prstGeom prst="line">
            <a:avLst/>
          </a:prstGeom>
          <a:ln w="10160">
            <a:solidFill>
              <a:srgbClr val="D7DEE6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37" name="TextBox 27"/>
          <p:cNvSpPr txBox="1"/>
          <p:nvPr/>
        </p:nvSpPr>
        <p:spPr>
          <a:xfrm>
            <a:off x="667511" y="6053328"/>
            <a:ext cx="2542034" cy="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>
            <a:lvl1pPr>
              <a:lnSpc>
                <a:spcPct val="108000"/>
              </a:lnSpc>
              <a:defRPr sz="1000">
                <a:solidFill>
                  <a:srgbClr val="127584"/>
                </a:solidFill>
                <a:latin typeface="Heiti SC Medium"/>
                <a:ea typeface="Heiti SC Medium"/>
                <a:cs typeface="Heiti SC Medium"/>
                <a:sym typeface="Heiti SC Medium"/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338" name="TextBox 28"/>
          <p:cNvSpPr txBox="1"/>
          <p:nvPr/>
        </p:nvSpPr>
        <p:spPr>
          <a:xfrm>
            <a:off x="10296143" y="6053328"/>
            <a:ext cx="1216153" cy="196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4" tIns="9144" rIns="9144" bIns="9144">
            <a:spAutoFit/>
          </a:bodyPr>
          <a:lstStyle/>
          <a:p>
            <a:pPr algn="r">
              <a:lnSpc>
                <a:spcPct val="108000"/>
              </a:lnSpc>
              <a:defRPr sz="1000">
                <a:solidFill>
                  <a:srgbClr val="606C7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pPr>
            <a:r>
              <a:rPr b="1">
                <a:latin typeface="+mn-lt"/>
                <a:ea typeface="+mn-ea"/>
                <a:cs typeface="+mn-cs"/>
                <a:sym typeface="Helvetica"/>
              </a:rPr>
              <a:t>齐恒 </a:t>
            </a:r>
            <a:r>
              <a:t>· A5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