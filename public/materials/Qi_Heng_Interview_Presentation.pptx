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estlake_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99432"/>
            <a:ext cx="12191999" cy="225856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101583" y="658368"/>
            <a:ext cx="3419856" cy="5376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adshot_squ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987552"/>
            <a:ext cx="2395728" cy="2395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94192" y="3639312"/>
            <a:ext cx="2816352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>
                <a:solidFill>
                  <a:srgbClr val="121B27"/>
                </a:solidFill>
                <a:latin typeface="PingFang SC"/>
              </a:rPr>
              <a:t>齐恒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75904" y="4105656"/>
            <a:ext cx="283464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>
                <a:solidFill>
                  <a:srgbClr val="2A3440"/>
                </a:solidFill>
                <a:latin typeface="PingFang SC"/>
              </a:rPr>
              <a:t>东华大学物理学院
应用物理学（新能源与微电子）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877824"/>
            <a:ext cx="438912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00" b="1">
                <a:solidFill>
                  <a:srgbClr val="127584"/>
                </a:solidFill>
                <a:latin typeface="Aptos"/>
              </a:rPr>
              <a:t>A5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4791456"/>
            <a:ext cx="1508760" cy="310896"/>
          </a:xfrm>
          <a:prstGeom prst="roundRect">
            <a:avLst/>
          </a:prstGeom>
          <a:solidFill>
            <a:srgbClr val="EEF7F8"/>
          </a:solidFill>
          <a:ln w="10160">
            <a:solidFill>
              <a:srgbClr val="1275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4192" y="4873752"/>
            <a:ext cx="136245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PingFang SC"/>
              </a:rPr>
              <a:t>GPA 3.91/5.00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76104" y="4791456"/>
            <a:ext cx="1225296" cy="310896"/>
          </a:xfrm>
          <a:prstGeom prst="roundRect">
            <a:avLst/>
          </a:prstGeom>
          <a:solidFill>
            <a:srgbClr val="EEF6F0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49256" y="4873752"/>
            <a:ext cx="1078992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PingFang SC"/>
              </a:rPr>
              <a:t>Rank 5/65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5266944"/>
            <a:ext cx="804672" cy="804672"/>
          </a:xfrm>
          <a:prstGeom prst="roundRect">
            <a:avLst/>
          </a:prstGeom>
          <a:solidFill>
            <a:srgbClr val="EFF7F8"/>
          </a:solidFill>
          <a:ln w="8890">
            <a:solidFill>
              <a:srgbClr val="C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omepag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7344" y="53218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21040" y="6126479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PingFang SC"/>
              </a:rPr>
              <a:t>扫码看个人主页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8592" y="5422392"/>
            <a:ext cx="1737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Aptos"/>
              </a:rPr>
              <a:t>hengqi61-maker.github.io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8592" y="5678424"/>
            <a:ext cx="1700784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30" b="0">
                <a:solidFill>
                  <a:srgbClr val="606C7A"/>
                </a:solidFill>
                <a:latin typeface="PingFang SC"/>
              </a:rPr>
              <a:t>项目入口 · 个人经历 · GitHub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WESTLAKE SCIENCE SUMMER CAMP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个人成果汇报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941832"/>
            <a:ext cx="42062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127584"/>
                </a:solidFill>
                <a:latin typeface="PingFang SC"/>
              </a:rPr>
              <a:t>西湖大学理学院夏令营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1481328"/>
            <a:ext cx="6492240" cy="1417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1B27"/>
                </a:solidFill>
                <a:latin typeface="PingFang SC"/>
              </a:rPr>
              <a:t>从物理问题到
</a:t>
            </a:r>
            <a:r>
              <a:rPr sz="3400" b="1">
                <a:solidFill>
                  <a:srgbClr val="127584"/>
                </a:solidFill>
                <a:latin typeface="PingFang SC"/>
              </a:rPr>
              <a:t>可复现计算系统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3246120"/>
            <a:ext cx="466344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2A3440"/>
                </a:solidFill>
                <a:latin typeface="PingFang SC"/>
              </a:rPr>
              <a:t>个人学术背景与博士阶段科研计划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3858768"/>
            <a:ext cx="6181344" cy="530352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041648"/>
            <a:ext cx="571500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20" b="1">
                <a:solidFill>
                  <a:srgbClr val="127584"/>
                </a:solidFill>
                <a:latin typeface="PingFang SC"/>
              </a:rPr>
              <a:t>主线：物理模型理解  -&gt;  数值模拟与可视化  -&gt;  AI for Science 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236208"/>
            <a:ext cx="521208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Aptos"/>
              </a:rPr>
              <a:t>2026.07 · Westlake University School of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ACADEMIC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学术背景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PingFang SC"/>
              </a:rPr>
              <a:t>物理与数学课程构成后续计算训练的底座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PingFang SC"/>
              </a:rPr>
              <a:t>不堆叠证明材料，重点说明这些基础如何支撑建模、推导、数值实现和结果解释。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27584"/>
                </a:solidFill>
                <a:latin typeface="Aptos"/>
              </a:rPr>
              <a:t>3.91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PingFang SC"/>
              </a:rPr>
              <a:t>GPA / 5.00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2304" y="1874519"/>
            <a:ext cx="157276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93391"/>
            <a:ext cx="12801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4F805E"/>
                </a:solidFill>
                <a:latin typeface="Aptos"/>
              </a:rPr>
              <a:t>89.1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359152"/>
            <a:ext cx="12801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PingFang SC"/>
              </a:rPr>
              <a:t>百分制均分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874519"/>
            <a:ext cx="175564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993391"/>
            <a:ext cx="1463039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C48436"/>
                </a:solidFill>
                <a:latin typeface="Aptos"/>
              </a:rPr>
              <a:t>5 / 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59152"/>
            <a:ext cx="1463039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PingFang SC"/>
              </a:rPr>
              <a:t>专业排名 · 前 7.7%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874519"/>
            <a:ext cx="1389888" cy="8412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5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93391"/>
            <a:ext cx="109728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665080"/>
                </a:solidFill>
                <a:latin typeface="Aptos"/>
              </a:rPr>
              <a:t>551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59152"/>
            <a:ext cx="10972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0">
                <a:solidFill>
                  <a:srgbClr val="606C7A"/>
                </a:solidFill>
                <a:latin typeface="PingFang SC"/>
              </a:rPr>
              <a:t>CET-6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764792"/>
            <a:ext cx="2468880" cy="28163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011680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>
                <a:solidFill>
                  <a:srgbClr val="121B27"/>
                </a:solidFill>
                <a:latin typeface="PingFang SC"/>
              </a:rPr>
              <a:t>核心课程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363724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经典力学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65792" y="2427732"/>
            <a:ext cx="91440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71632" y="2350008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127584"/>
                </a:solidFill>
                <a:latin typeface="Aptos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2610612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光学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65792" y="267462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792" y="2674620"/>
            <a:ext cx="905256" cy="64008"/>
          </a:xfrm>
          <a:prstGeom prst="rect">
            <a:avLst/>
          </a:prstGeom>
          <a:solidFill>
            <a:srgbClr val="279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71632" y="2596896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279789"/>
                </a:solidFill>
                <a:latin typeface="Aptos"/>
              </a:rPr>
              <a:t>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2857500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数学物理方法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65792" y="292150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65792" y="2921508"/>
            <a:ext cx="896112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71632" y="2843784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4F805E"/>
                </a:solidFill>
                <a:latin typeface="Aptos"/>
              </a:rPr>
              <a:t>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3104388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线性代数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65792" y="3168396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65792" y="3168396"/>
            <a:ext cx="868680" cy="64008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71632" y="3090672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127584"/>
                </a:solidFill>
                <a:latin typeface="Aptos"/>
              </a:rPr>
              <a:t>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2832" y="3351276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偏微分方程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65792" y="3415284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765792" y="3415284"/>
            <a:ext cx="841248" cy="64008"/>
          </a:xfrm>
          <a:prstGeom prst="rect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71632" y="3337560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C48436"/>
                </a:solidFill>
                <a:latin typeface="Aptos"/>
              </a:rPr>
              <a:t>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2832" y="3598164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量子力学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65792" y="3662172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65792" y="3662172"/>
            <a:ext cx="832104" cy="64008"/>
          </a:xfrm>
          <a:prstGeom prst="rect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71632" y="3584448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665080"/>
                </a:solidFill>
                <a:latin typeface="Aptos"/>
              </a:rPr>
              <a:t>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832" y="3845052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电磁学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65792" y="3909060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65792" y="3909060"/>
            <a:ext cx="822960" cy="64008"/>
          </a:xfrm>
          <a:prstGeom prst="rect">
            <a:avLst/>
          </a:prstGeom>
          <a:solidFill>
            <a:srgbClr val="2A3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71632" y="3831336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2A3440"/>
                </a:solidFill>
                <a:latin typeface="Aptos"/>
              </a:rPr>
              <a:t>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2832" y="4091939"/>
            <a:ext cx="7680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80" b="0">
                <a:solidFill>
                  <a:srgbClr val="606C7A"/>
                </a:solidFill>
                <a:latin typeface="PingFang SC"/>
              </a:rPr>
              <a:t>固体物理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65792" y="4155948"/>
            <a:ext cx="914400" cy="64008"/>
          </a:xfrm>
          <a:prstGeom prst="rect">
            <a:avLst/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65792" y="4155948"/>
            <a:ext cx="832104" cy="64008"/>
          </a:xfrm>
          <a:prstGeom prst="rect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71632" y="4078224"/>
            <a:ext cx="2286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780" b="1">
                <a:solidFill>
                  <a:srgbClr val="4F805E"/>
                </a:solidFill>
                <a:latin typeface="Aptos"/>
              </a:rPr>
              <a:t>91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14400" y="4261104"/>
            <a:ext cx="310896" cy="310896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8116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3312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PingFang SC"/>
              </a:rPr>
              <a:t>物理图像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53312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从经典、量子、电磁和固体物理中识别模型对象与适用边界。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2424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593592" y="4261104"/>
            <a:ext cx="310896" cy="310896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7308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32504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PingFang SC"/>
              </a:rPr>
              <a:t>数学表达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2504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用数学物理方法、线性代数和偏微分方程承接推导与离散化。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71616" y="3977639"/>
            <a:ext cx="2395728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272784" y="4261104"/>
            <a:ext cx="310896" cy="310896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6500" y="4357116"/>
            <a:ext cx="283464" cy="1097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7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1696" y="4187952"/>
            <a:ext cx="1417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>
                <a:solidFill>
                  <a:srgbClr val="121B27"/>
                </a:solidFill>
                <a:latin typeface="PingFang SC"/>
              </a:rPr>
              <a:t>计算实现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489704"/>
            <a:ext cx="1481328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用 Python / Matlab / LaTeX 将公式转化为可检验的数值流程。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" y="5614416"/>
            <a:ext cx="105156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>
                <a:solidFill>
                  <a:srgbClr val="121B27"/>
                </a:solidFill>
                <a:latin typeface="PingFang SC"/>
              </a:rPr>
              <a:t>结论：我申请西湖时的核心定位，不是单一软件能力，而是物理理解、数值建模和工程实现的组合。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PingFang SC"/>
              </a:rPr>
              <a:t>齐恒 · 东华大学物理学院 · 应用物理学（新能源与微电子）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PingFang SC"/>
              </a:rPr>
              <a:t>西湖大学理学院夏令营个人成果汇报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02/06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SELF-DRIVEN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完整的我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PingFang SC"/>
              </a:rPr>
              <a:t>独立远行训练了我面对未知时的推进方式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PingFang SC"/>
              </a:rPr>
              <a:t>我不是把徒步当成装饰经历，而是把它理解为规划、判断风险、处理意外和复盘迭代的长期训练。</a:t>
            </a:r>
          </a:p>
        </p:txBody>
      </p:sp>
      <p:pic>
        <p:nvPicPr>
          <p:cNvPr id="7" name="Picture 6" descr="hike_l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01952"/>
            <a:ext cx="1682496" cy="1261872"/>
          </a:xfrm>
          <a:prstGeom prst="rect">
            <a:avLst/>
          </a:prstGeom>
        </p:spPr>
      </p:pic>
      <p:pic>
        <p:nvPicPr>
          <p:cNvPr id="8" name="Picture 7" descr="hike_mount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1901952"/>
            <a:ext cx="1682496" cy="1261872"/>
          </a:xfrm>
          <a:prstGeom prst="rect">
            <a:avLst/>
          </a:prstGeom>
        </p:spPr>
      </p:pic>
      <p:pic>
        <p:nvPicPr>
          <p:cNvPr id="9" name="Picture 8" descr="snow_mount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901952"/>
            <a:ext cx="1682496" cy="12618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" y="3364992"/>
            <a:ext cx="5440680" cy="17190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21024"/>
            <a:ext cx="25603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PingFang SC"/>
              </a:rPr>
              <a:t>旅行与徒步给我的训练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4087368"/>
            <a:ext cx="109728" cy="10972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03250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27584"/>
                </a:solidFill>
                <a:latin typeface="PingFang SC"/>
              </a:rPr>
              <a:t>路线与预算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403250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PingFang SC"/>
              </a:rPr>
              <a:t>把目标拆成路线、时间、装备、补给和预算。</a:t>
            </a:r>
          </a:p>
        </p:txBody>
      </p:sp>
      <p:sp>
        <p:nvSpPr>
          <p:cNvPr id="15" name="Oval 14"/>
          <p:cNvSpPr/>
          <p:nvPr/>
        </p:nvSpPr>
        <p:spPr>
          <a:xfrm>
            <a:off x="941832" y="4407407"/>
            <a:ext cx="109728" cy="10972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4F805E"/>
                </a:solidFill>
                <a:latin typeface="PingFang SC"/>
              </a:rPr>
              <a:t>风险判断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4248" y="435254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PingFang SC"/>
              </a:rPr>
              <a:t>在天气、迷路、设备和语言环境变化中快速决策。</a:t>
            </a:r>
          </a:p>
        </p:txBody>
      </p:sp>
      <p:sp>
        <p:nvSpPr>
          <p:cNvPr id="18" name="Oval 17"/>
          <p:cNvSpPr/>
          <p:nvPr/>
        </p:nvSpPr>
        <p:spPr>
          <a:xfrm>
            <a:off x="941832" y="4727448"/>
            <a:ext cx="109728" cy="10972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672584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C48436"/>
                </a:solidFill>
                <a:latin typeface="PingFang SC"/>
              </a:rPr>
              <a:t>复盘迭代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4248" y="4672584"/>
            <a:ext cx="3520440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606C7A"/>
                </a:solidFill>
                <a:latin typeface="PingFang SC"/>
              </a:rPr>
              <a:t>把一次次问题转化为下一次更可靠的方案。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1883664"/>
            <a:ext cx="4983480" cy="3218688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3992" y="2212848"/>
            <a:ext cx="16459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27584"/>
                </a:solidFill>
                <a:latin typeface="PingFang SC"/>
              </a:rPr>
              <a:t>迁移到科研训练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2633472"/>
            <a:ext cx="4005072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21B27"/>
                </a:solidFill>
                <a:latin typeface="PingFang SC"/>
              </a:rPr>
              <a:t>我现在的项目也沿用同一种方式：先做出可运行版本，再暴露问题、补齐知识、继续迭代。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456432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42048" y="3447288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PingFang SC"/>
              </a:rPr>
              <a:t>不确定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3447288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PingFang SC"/>
              </a:rPr>
              <a:t>方向未完全收敛，但主动调研、联系老师、比较课题组。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3931920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922776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PingFang SC"/>
              </a:rPr>
              <a:t>可执行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39227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PingFang SC"/>
              </a:rPr>
              <a:t>把模糊兴趣拆成公式、代码、图像和测试。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4407408"/>
            <a:ext cx="31089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>
                <a:solidFill>
                  <a:srgbClr val="127584"/>
                </a:solidFill>
                <a:latin typeface="Apto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2048" y="4398264"/>
            <a:ext cx="640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>
                <a:solidFill>
                  <a:srgbClr val="121B27"/>
                </a:solidFill>
                <a:latin typeface="PingFang SC"/>
              </a:rPr>
              <a:t>可复盘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82127" y="4398264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0">
                <a:solidFill>
                  <a:srgbClr val="606C7A"/>
                </a:solidFill>
                <a:latin typeface="PingFang SC"/>
              </a:rPr>
              <a:t>用网页、GitHub、文档保存过程，而不是只留下结果。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1033272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20" b="1">
                <a:solidFill>
                  <a:srgbClr val="121B27"/>
                </a:solidFill>
                <a:latin typeface="PingFang SC"/>
              </a:rPr>
              <a:t>关键词：自驱探索 / 独立规划 / 快速试错 / 持续迭代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PingFang SC"/>
              </a:rPr>
              <a:t>齐恒 · 东华大学物理学院 · 应用物理学（新能源与微电子）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PingFang SC"/>
              </a:rPr>
              <a:t>西湖大学理学院夏令营个人成果汇报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03/06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PROJECT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项目证据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PingFang SC"/>
              </a:rPr>
              <a:t>项目重点不是“成果成熟”，而是自驱拆解和实现能力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PingFang SC"/>
              </a:rPr>
              <a:t>我更适合被理解为：能从一个真实问题出发，快速做出可运行系统，并在错误中继续收敛。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08208" y="786384"/>
            <a:ext cx="804672" cy="804672"/>
          </a:xfrm>
          <a:prstGeom prst="roundRect">
            <a:avLst/>
          </a:prstGeom>
          <a:solidFill>
            <a:srgbClr val="EFF7F8"/>
          </a:solidFill>
          <a:ln w="8890">
            <a:solidFill>
              <a:srgbClr val="C8DD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page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3072" y="841247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16768" y="1645920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127584"/>
                </a:solidFill>
                <a:latin typeface="PingFang SC"/>
              </a:rPr>
              <a:t>扫码看主页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932688"/>
            <a:ext cx="1737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50" b="1">
                <a:solidFill>
                  <a:srgbClr val="127584"/>
                </a:solidFill>
                <a:latin typeface="PingFang SC"/>
              </a:rPr>
              <a:t>个人主页与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8512" y="1207008"/>
            <a:ext cx="1865376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60" b="0">
                <a:solidFill>
                  <a:srgbClr val="606C7A"/>
                </a:solidFill>
                <a:latin typeface="Aptos"/>
              </a:rPr>
              <a:t>hengqi61-maker.github.io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127584"/>
                </a:solidFill>
                <a:latin typeface="Aptos"/>
              </a:rPr>
              <a:t>QUANTUM / VISUALIZATION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331720"/>
            <a:ext cx="2852928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80" b="1">
                <a:solidFill>
                  <a:srgbClr val="121B27"/>
                </a:solidFill>
                <a:latin typeface="PingFang SC"/>
              </a:rPr>
              <a:t>氢原子轨道电子云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PingFang SC"/>
              </a:rPr>
              <a:t>问题来源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想理解轨道形状到底应由什么定义，而不只是背图像。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PingFang SC"/>
              </a:rPr>
              <a:t>实现路径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575304"/>
            <a:ext cx="2139696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以概率密度为对象，结合 Monte Carlo 采样和三维可视化检验理解。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1056" y="3895344"/>
            <a:ext cx="2157984" cy="320040"/>
          </a:xfrm>
          <a:prstGeom prst="roundRect">
            <a:avLst/>
          </a:prstGeom>
          <a:solidFill>
            <a:srgbClr val="F8FBFC"/>
          </a:solidFill>
          <a:ln w="8890">
            <a:solidFill>
              <a:srgbClr val="D7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orbital_density_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" y="3954780"/>
            <a:ext cx="188366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112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127584"/>
                </a:solidFill>
                <a:latin typeface="PingFang SC"/>
              </a:rPr>
              <a:t>证明能力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能把公式、概率分布、采样误差和可视化结果串起来。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62272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8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4F805E"/>
                </a:solidFill>
                <a:latin typeface="Aptos"/>
              </a:rPr>
              <a:t>SOLID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8" y="2331720"/>
            <a:ext cx="2852928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480" b="1">
                <a:solidFill>
                  <a:srgbClr val="121B27"/>
                </a:solidFill>
                <a:latin typeface="PingFang SC"/>
              </a:rPr>
              <a:t>晶体结构与倒空间教具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PingFang SC"/>
              </a:rPr>
              <a:t>问题来源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4104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固体物理中的 Miller 指数、倒格子、布里渊区较抽象。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PingFang SC"/>
              </a:rPr>
              <a:t>实现路径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把 SC/BCC/FCC/HCP、正倒空间、Ewald 球等做成交互对象。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0016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4F805E"/>
                </a:solidFill>
                <a:latin typeface="PingFang SC"/>
              </a:rPr>
              <a:t>证明能力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4104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能把空间几何关系转化为可观察、可调参的教学工具。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6176" y="1828800"/>
            <a:ext cx="3401568" cy="35661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85632" y="2066543"/>
            <a:ext cx="21945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9" b="1">
                <a:solidFill>
                  <a:srgbClr val="665080"/>
                </a:solidFill>
                <a:latin typeface="Aptos"/>
              </a:rPr>
              <a:t>AI WORKFLOW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2331720"/>
            <a:ext cx="2852928" cy="5029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80" b="1">
                <a:solidFill>
                  <a:srgbClr val="121B27"/>
                </a:solidFill>
                <a:latin typeface="PingFang SC"/>
              </a:rPr>
              <a:t>Memory Engine
AI Agent 工具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2871216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PingFang SC"/>
              </a:rPr>
              <a:t>问题来源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8008" y="2862072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大模型上下文有限，重要信息容易遗忘，科研过程也需要长期记录。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3584448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PingFang SC"/>
              </a:rPr>
              <a:t>实现路径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8008" y="3575304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做长期记忆、语义检索、衰减、巩固和文档化流程。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297680"/>
            <a:ext cx="713232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>
                <a:solidFill>
                  <a:srgbClr val="665080"/>
                </a:solidFill>
                <a:latin typeface="PingFang SC"/>
              </a:rPr>
              <a:t>证明能力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08008" y="4288536"/>
            <a:ext cx="2139696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0">
                <a:solidFill>
                  <a:srgbClr val="606C7A"/>
                </a:solidFill>
                <a:latin typeface="PingFang SC"/>
              </a:rPr>
              <a:t>能用 AI 协作提升学习、代码实验和科研工作流效率。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605272"/>
            <a:ext cx="10561320" cy="393192"/>
          </a:xfrm>
          <a:prstGeom prst="roundRect">
            <a:avLst/>
          </a:prstGeom>
          <a:solidFill>
            <a:srgbClr val="EDF5F5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715000"/>
            <a:ext cx="10104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260" b="1">
                <a:solidFill>
                  <a:srgbClr val="127584"/>
                </a:solidFill>
                <a:latin typeface="PingFang SC"/>
              </a:rPr>
              <a:t>共同证明：我会主动找问题、做原型、验证和迭代。更多项目证据可扫码查看个人主页。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PingFang SC"/>
              </a:rPr>
              <a:t>齐恒 · 东华大学物理学院 · 应用物理学（新能源与微电子）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PingFang SC"/>
              </a:rPr>
              <a:t>西湖大学理学院夏令营个人成果汇报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04/06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PHD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博士阶段科研计划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68096"/>
            <a:ext cx="87782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>
                <a:solidFill>
                  <a:srgbClr val="121B27"/>
                </a:solidFill>
                <a:latin typeface="PingFang SC"/>
              </a:rPr>
              <a:t>博士阶段：从方向兴趣到可验证问题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344168"/>
            <a:ext cx="8686800" cy="3108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606C7A"/>
                </a:solidFill>
                <a:latin typeface="PingFang SC"/>
              </a:rPr>
              <a:t>我不把博士计划写成锁死标签，而是把近期交流中的兴趣收束成可进入课题组继续深化的问题框架。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47088"/>
            <a:ext cx="214884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3055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20" b="1">
                <a:solidFill>
                  <a:srgbClr val="121B27"/>
                </a:solidFill>
                <a:latin typeface="PingFang SC"/>
              </a:rPr>
              <a:t>兴趣来源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1664208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10" b="0">
                <a:solidFill>
                  <a:srgbClr val="606C7A"/>
                </a:solidFill>
                <a:latin typeface="PingFang SC"/>
              </a:rPr>
              <a:t>南科大夏令营交流让我集中接触到生物物理、凝聚态、计算物理 / AI 等方向。
它们背后共同关心的是：结构、动力学与功能 / 物性如何连接。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52928" y="2779776"/>
            <a:ext cx="365760" cy="0"/>
          </a:xfrm>
          <a:prstGeom prst="line">
            <a:avLst/>
          </a:prstGeom>
          <a:ln w="22860">
            <a:solidFill>
              <a:srgbClr val="1275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18688" y="1847088"/>
            <a:ext cx="5468112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F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112264"/>
            <a:ext cx="128016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20" b="1">
                <a:solidFill>
                  <a:srgbClr val="127584"/>
                </a:solidFill>
                <a:latin typeface="PingFang SC"/>
              </a:rPr>
              <a:t>核心问题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532888"/>
            <a:ext cx="46177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20" b="1">
                <a:solidFill>
                  <a:srgbClr val="121B27"/>
                </a:solidFill>
                <a:latin typeface="PingFang SC"/>
              </a:rPr>
              <a:t>复杂体系中，微观结构如何产生动力学，
动力学又如何决定生命功能或材料物性？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3310128"/>
            <a:ext cx="4572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>
                <a:solidFill>
                  <a:srgbClr val="606C7A"/>
                </a:solidFill>
                <a:latin typeface="PingFang SC"/>
              </a:rPr>
              <a:t>共同语言：结构 -&gt; 动力学 -&gt; 功能 / 物性 -&gt; 可解释模型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5088" y="2779776"/>
            <a:ext cx="347472" cy="0"/>
          </a:xfrm>
          <a:prstGeom prst="line">
            <a:avLst/>
          </a:prstGeom>
          <a:ln w="22860">
            <a:solidFill>
              <a:srgbClr val="1275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52560" y="1847088"/>
            <a:ext cx="2450592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2130552"/>
            <a:ext cx="1188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20" b="1">
                <a:solidFill>
                  <a:srgbClr val="121B27"/>
                </a:solidFill>
                <a:latin typeface="PingFang SC"/>
              </a:rPr>
              <a:t>长期目标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587752"/>
            <a:ext cx="1755648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10" b="0">
                <a:solidFill>
                  <a:srgbClr val="606C7A"/>
                </a:solidFill>
                <a:latin typeface="PingFang SC"/>
              </a:rPr>
              <a:t>把物理直觉、计算方法和交叉科学问题连接起来。
在具体课题组中，把兴趣收束为可计算、可验证、可解释的研究问题。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4133087"/>
            <a:ext cx="3337560" cy="676656"/>
          </a:xfrm>
          <a:prstGeom prst="roundRect">
            <a:avLst/>
          </a:prstGeom>
          <a:solidFill>
            <a:srgbClr val="EDF7F1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4251960"/>
            <a:ext cx="114300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4F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4334256"/>
            <a:ext cx="99669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4F805E"/>
                </a:solidFill>
                <a:latin typeface="PingFang SC"/>
              </a:rPr>
              <a:t>生物物理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553712"/>
            <a:ext cx="2788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40" b="0">
                <a:solidFill>
                  <a:srgbClr val="606C7A"/>
                </a:solidFill>
                <a:latin typeface="PingFang SC"/>
              </a:rPr>
              <a:t>蛋白质构象、分子动力学、生命系统功能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4133087"/>
            <a:ext cx="3337560" cy="676656"/>
          </a:xfrm>
          <a:prstGeom prst="roundRect">
            <a:avLst/>
          </a:prstGeom>
          <a:solidFill>
            <a:srgbClr val="FFF7EB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45736" y="4251960"/>
            <a:ext cx="114300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484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18888" y="4334256"/>
            <a:ext cx="99669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C48436"/>
                </a:solidFill>
                <a:latin typeface="PingFang SC"/>
              </a:rPr>
              <a:t>凝聚态物理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4" y="4553712"/>
            <a:ext cx="2788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40" b="0">
                <a:solidFill>
                  <a:srgbClr val="606C7A"/>
                </a:solidFill>
                <a:latin typeface="PingFang SC"/>
              </a:rPr>
              <a:t>晶体结构、电子结构、材料物性与实验反馈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4133087"/>
            <a:ext cx="3337560" cy="676656"/>
          </a:xfrm>
          <a:prstGeom prst="roundRect">
            <a:avLst/>
          </a:prstGeom>
          <a:solidFill>
            <a:srgbClr val="F4F0F7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31352" y="4251960"/>
            <a:ext cx="1417320" cy="3108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65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04504" y="4334256"/>
            <a:ext cx="1271016" cy="1371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80" b="1">
                <a:solidFill>
                  <a:srgbClr val="665080"/>
                </a:solidFill>
                <a:latin typeface="PingFang SC"/>
              </a:rPr>
              <a:t>计算物理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4553712"/>
            <a:ext cx="2788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40" b="0">
                <a:solidFill>
                  <a:srgbClr val="606C7A"/>
                </a:solidFill>
                <a:latin typeface="PingFang SC"/>
              </a:rPr>
              <a:t>数值模拟、机器学习、数据反演与模型解释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5084064"/>
            <a:ext cx="2103120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20" b="1">
                <a:solidFill>
                  <a:srgbClr val="121B27"/>
                </a:solidFill>
                <a:latin typeface="PingFang SC"/>
              </a:rPr>
              <a:t>博士阶段的实际做法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2" y="5614416"/>
            <a:ext cx="329184" cy="329184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4516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PingFang SC"/>
              </a:rPr>
              <a:t>补基础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8448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PingFang SC"/>
              </a:rPr>
              <a:t>统计物理、凝聚态 / 生物物理、分子模拟或第一性原理、机器学习。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93008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66744" y="5614416"/>
            <a:ext cx="329184" cy="329184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50868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PingFang SC"/>
              </a:rPr>
              <a:t>复现代表作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PingFang SC"/>
              </a:rPr>
              <a:t>复现方法与结果，训练文献阅读、代码复现和结果复核。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483096" y="5614416"/>
            <a:ext cx="329184" cy="329184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67220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31152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PingFang SC"/>
              </a:rPr>
              <a:t>选具体体系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PingFang SC"/>
              </a:rPr>
              <a:t>跟随导师方向，在蛋白质或材料体系中找到可计算问题。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25712" y="5413248"/>
            <a:ext cx="2514600" cy="8046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99448" y="5614416"/>
            <a:ext cx="329184" cy="329184"/>
          </a:xfrm>
          <a:prstGeom prst="ellipse">
            <a:avLst/>
          </a:prstGeom>
          <a:solidFill>
            <a:srgbClr val="66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3572" y="5717743"/>
            <a:ext cx="146304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47504" y="5550408"/>
            <a:ext cx="10972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21B27"/>
                </a:solidFill>
                <a:latin typeface="PingFang SC"/>
              </a:rPr>
              <a:t>形成输出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5843016"/>
            <a:ext cx="1664208" cy="2103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5" b="0">
                <a:solidFill>
                  <a:srgbClr val="606C7A"/>
                </a:solidFill>
                <a:latin typeface="PingFang SC"/>
              </a:rPr>
              <a:t>沉淀可复现代码、可验证模型和物理机制解释。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66928" y="6419088"/>
            <a:ext cx="11064240" cy="0"/>
          </a:xfrm>
          <a:prstGeom prst="line">
            <a:avLst/>
          </a:prstGeom>
          <a:ln w="889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6928" y="6483096"/>
            <a:ext cx="53949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PingFang SC"/>
              </a:rPr>
              <a:t>齐恒 · 东华大学物理学院 · 应用物理学（新能源与微电子）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40" y="6483096"/>
            <a:ext cx="356616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840" b="0">
                <a:solidFill>
                  <a:srgbClr val="7F8D9D"/>
                </a:solidFill>
                <a:latin typeface="PingFang SC"/>
              </a:rPr>
              <a:t>西湖大学理学院夏令营个人成果汇报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36808" y="6483096"/>
            <a:ext cx="60350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40" b="0">
                <a:solidFill>
                  <a:srgbClr val="606C7A"/>
                </a:solidFill>
                <a:latin typeface="Aptos"/>
              </a:rPr>
              <a:t>05/06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393192"/>
            <a:ext cx="82296" cy="228600"/>
          </a:xfrm>
          <a:prstGeom prst="rect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47472"/>
            <a:ext cx="26517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606C7A"/>
                </a:solidFill>
                <a:latin typeface="Aptos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347472"/>
            <a:ext cx="1170432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0">
                <a:solidFill>
                  <a:srgbClr val="606C7A"/>
                </a:solidFill>
                <a:latin typeface="PingFang SC"/>
              </a:rPr>
              <a:t>收束与问答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56692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>
                <a:solidFill>
                  <a:srgbClr val="121B27"/>
                </a:solidFill>
                <a:latin typeface="PingFang SC"/>
              </a:rPr>
              <a:t>我希望西湖看到的是一个完整的人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603504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>
                <a:solidFill>
                  <a:srgbClr val="2A3440"/>
                </a:solidFill>
                <a:latin typeface="PingFang SC"/>
              </a:rPr>
              <a:t>基础扎实，但还在收敛方向；成果不算成熟，但自驱探索和实现能力真实存在。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30552"/>
            <a:ext cx="598932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9808" y="2286000"/>
            <a:ext cx="292608" cy="292608"/>
          </a:xfrm>
          <a:prstGeom prst="ellipse">
            <a:avLst/>
          </a:prstGeom>
          <a:solidFill>
            <a:srgbClr val="1275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3820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22402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PingFang SC"/>
              </a:rPr>
              <a:t>学术底座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2" y="22585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606C7A"/>
                </a:solidFill>
                <a:latin typeface="PingFang SC"/>
              </a:rPr>
              <a:t>物理与数学课程支撑后续建模和数值训练。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44952"/>
            <a:ext cx="598932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3200400"/>
            <a:ext cx="292608" cy="292608"/>
          </a:xfrm>
          <a:prstGeom prst="ellipse">
            <a:avLst/>
          </a:prstGeom>
          <a:solidFill>
            <a:srgbClr val="4F8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2964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1546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PingFang SC"/>
              </a:rPr>
              <a:t>自驱探索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31729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606C7A"/>
                </a:solidFill>
                <a:latin typeface="PingFang SC"/>
              </a:rPr>
              <a:t>从徒步旅行到主动做项目，习惯先行动再迭代。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959352"/>
            <a:ext cx="5989320" cy="6583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8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114800"/>
            <a:ext cx="292608" cy="292608"/>
          </a:xfrm>
          <a:prstGeom prst="ellipse">
            <a:avLst/>
          </a:prstGeom>
          <a:solidFill>
            <a:srgbClr val="C484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" y="4210812"/>
            <a:ext cx="128016" cy="8229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64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4069080"/>
            <a:ext cx="16916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121B27"/>
                </a:solidFill>
                <a:latin typeface="PingFang SC"/>
              </a:rPr>
              <a:t>可复现能力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07792" y="4087368"/>
            <a:ext cx="34747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30" b="0">
                <a:solidFill>
                  <a:srgbClr val="606C7A"/>
                </a:solidFill>
                <a:latin typeface="PingFang SC"/>
              </a:rPr>
              <a:t>用代码、网页和文档沉淀问题、方法和结果。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1078992"/>
            <a:ext cx="4069080" cy="4096512"/>
          </a:xfrm>
          <a:prstGeom prst="roundRect">
            <a:avLst/>
          </a:prstGeom>
          <a:solidFill>
            <a:srgbClr val="E8F1F2"/>
          </a:solidFill>
          <a:ln w="8890">
            <a:solidFill>
              <a:srgbClr val="C9DC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0" y="1444752"/>
            <a:ext cx="11430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>
                <a:solidFill>
                  <a:srgbClr val="127584"/>
                </a:solidFill>
                <a:latin typeface="PingFang SC"/>
              </a:rPr>
              <a:t>汇报收束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1874519"/>
            <a:ext cx="3337560" cy="9601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400" b="1">
                <a:solidFill>
                  <a:srgbClr val="111F2B"/>
                </a:solidFill>
                <a:latin typeface="PingFang SC"/>
              </a:rPr>
              <a:t>把探索未知的习惯，
转化为扎实、可复现的科研能力。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3246120"/>
            <a:ext cx="29718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60" b="1">
                <a:solidFill>
                  <a:srgbClr val="2A3440"/>
                </a:solidFill>
                <a:latin typeface="PingFang SC"/>
              </a:rPr>
              <a:t>希望在西湖接受更严格、长期的科研训练。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160520"/>
            <a:ext cx="2999232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9" b="0">
                <a:solidFill>
                  <a:srgbClr val="606C7A"/>
                </a:solidFill>
                <a:latin typeface="Aptos"/>
              </a:rPr>
              <a:t>hengqi61@gmail.com
github.com/hengqi61-maker
hengqi61-maker.github.io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870448"/>
            <a:ext cx="5971032" cy="0"/>
          </a:xfrm>
          <a:prstGeom prst="line">
            <a:avLst/>
          </a:prstGeom>
          <a:ln w="10160"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0533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>
                <a:solidFill>
                  <a:srgbClr val="127584"/>
                </a:solidFill>
                <a:latin typeface="Aptos"/>
              </a:rPr>
              <a:t>THANK YOU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053328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>
                <a:solidFill>
                  <a:srgbClr val="606C7A"/>
                </a:solidFill>
                <a:latin typeface="PingFang SC"/>
              </a:rPr>
              <a:t>齐恒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