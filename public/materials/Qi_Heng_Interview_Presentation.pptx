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estlake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12191999" cy="2331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94192" y="0"/>
            <a:ext cx="3794760" cy="6858000"/>
          </a:xfrm>
          <a:prstGeom prst="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dshot_squ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1042415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05088" y="3794760"/>
            <a:ext cx="28346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齐恒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8512" y="4261104"/>
            <a:ext cx="290779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2A3440"/>
                </a:solidFill>
                <a:latin typeface="Hiragino Sans GB"/>
              </a:rPr>
              <a:t>东华大学物理学院
应用物理学（新能源与微电子）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384048"/>
            <a:ext cx="566928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Aptos"/>
              </a:rPr>
              <a:t>A5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512" y="5047488"/>
            <a:ext cx="150876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41664" y="5129783"/>
            <a:ext cx="136245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GPA 3.91/5.00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14432" y="5047488"/>
            <a:ext cx="1225296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87584" y="5129783"/>
            <a:ext cx="1078992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Rank 5/65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05672" y="5486400"/>
            <a:ext cx="859536" cy="859536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mepag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5541264"/>
            <a:ext cx="749808" cy="749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4232" y="6400800"/>
            <a:ext cx="1060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Hiragino Sans GB"/>
              </a:rPr>
              <a:t>扫码看个人主页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65792" y="5660136"/>
            <a:ext cx="16916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hengqi61-maker.github.io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65792" y="5925312"/>
            <a:ext cx="1627632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606C7A"/>
                </a:solidFill>
                <a:latin typeface="Hiragino Sans GB"/>
              </a:rPr>
              <a:t>项目入口 · 个人经历 · GitHub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WESTLAKE SCIENCE SUMMER CAMP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个人成果汇报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941832"/>
            <a:ext cx="42062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DFEFF3"/>
                </a:solidFill>
                <a:latin typeface="Hiragino Sans GB"/>
              </a:rPr>
              <a:t>西湖大学理学院夏令营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481328"/>
            <a:ext cx="6492240" cy="1417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Hiragino Sans GB"/>
              </a:rPr>
              <a:t>从物理问题到
</a:t>
            </a:r>
            <a:r>
              <a:rPr sz="3400" b="1">
                <a:solidFill>
                  <a:srgbClr val="B7E2E0"/>
                </a:solidFill>
                <a:latin typeface="Hiragino Sans GB"/>
              </a:rPr>
              <a:t>可复现计算系统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246120"/>
            <a:ext cx="46634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C8D8DC"/>
                </a:solidFill>
                <a:latin typeface="Hiragino Sans GB"/>
              </a:rPr>
              <a:t>个人学术背景与博士阶段科研计划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977639"/>
            <a:ext cx="64465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D8E7E8"/>
                </a:solidFill>
                <a:latin typeface="Hiragino Sans GB"/>
              </a:rPr>
              <a:t>主线：物理模型理解  →  数值模拟与可视化  →  AI for Science 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36208"/>
            <a:ext cx="521208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B8C9CE"/>
                </a:solidFill>
                <a:latin typeface="Aptos"/>
              </a:rPr>
              <a:t>2026.07 · Westlake University School of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ACADEMIC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学术背景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物理与数学课程构成后续计算训练的底座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不堆叠证明材料，重点说明这些基础如何支撑建模、推导、数值实现和结果解释。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27584"/>
                </a:solidFill>
                <a:latin typeface="Aptos"/>
              </a:rPr>
              <a:t>3.91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GPA / 5.00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4F805E"/>
                </a:solidFill>
                <a:latin typeface="Aptos"/>
              </a:rPr>
              <a:t>89.1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百分制均分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74519"/>
            <a:ext cx="175564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993391"/>
            <a:ext cx="1463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C48436"/>
                </a:solidFill>
                <a:latin typeface="Aptos"/>
              </a:rPr>
              <a:t>5 / 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59152"/>
            <a:ext cx="1463039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专业排名 · 前 7.7%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874519"/>
            <a:ext cx="138988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93391"/>
            <a:ext cx="1097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665080"/>
                </a:solidFill>
                <a:latin typeface="Aptos"/>
              </a:rPr>
              <a:t>551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59152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CET-6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764792"/>
            <a:ext cx="2468880" cy="28163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011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21B27"/>
                </a:solidFill>
                <a:latin typeface="Hiragino Sans GB"/>
              </a:rPr>
              <a:t>核心课程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36372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经典力学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71632" y="235000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261061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光学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65792" y="267462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792" y="2674620"/>
            <a:ext cx="905256" cy="64008"/>
          </a:xfrm>
          <a:prstGeom prst="rect">
            <a:avLst/>
          </a:prstGeom>
          <a:solidFill>
            <a:srgbClr val="27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71632" y="259689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79789"/>
                </a:solidFill>
                <a:latin typeface="Aptos"/>
              </a:rP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857500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数学物理方法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65792" y="292150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65792" y="2921508"/>
            <a:ext cx="896112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71632" y="284378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3104388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线性代数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65792" y="3168396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65792" y="3168396"/>
            <a:ext cx="86868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71632" y="3090672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3351276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偏微分方程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65792" y="3415284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65792" y="3415284"/>
            <a:ext cx="841248" cy="64008"/>
          </a:xfrm>
          <a:prstGeom prst="rect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71632" y="3337560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C48436"/>
                </a:solidFill>
                <a:latin typeface="Aptos"/>
              </a:rPr>
              <a:t>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9816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量子力学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65792" y="366217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65792" y="3662172"/>
            <a:ext cx="832104" cy="64008"/>
          </a:xfrm>
          <a:prstGeom prst="rect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71632" y="358444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665080"/>
                </a:solidFill>
                <a:latin typeface="Aptos"/>
              </a:rPr>
              <a:t>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384505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电磁学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65792" y="390906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65792" y="3909060"/>
            <a:ext cx="822960" cy="64008"/>
          </a:xfrm>
          <a:prstGeom prst="rect">
            <a:avLst/>
          </a:prstGeom>
          <a:solidFill>
            <a:srgbClr val="2A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71632" y="383133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A3440"/>
                </a:solidFill>
                <a:latin typeface="Aptos"/>
              </a:rPr>
              <a:t>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832" y="4091939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固体物理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65792" y="415594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65792" y="4155948"/>
            <a:ext cx="832104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71632" y="407822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14400" y="4261104"/>
            <a:ext cx="310896" cy="310896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116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3312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物理图像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53312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从经典、量子、电磁和固体物理中识别模型对象与适用边界。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2424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93592" y="4261104"/>
            <a:ext cx="310896" cy="310896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7308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32504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数学表达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2504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用数学物理方法、线性代数和偏微分方程承接推导与离散化。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71616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272784" y="4261104"/>
            <a:ext cx="310896" cy="310896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6500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696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计算实现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用 Python / Matlab / LaTeX 将公式转化为可检验的数值流程。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614416"/>
            <a:ext cx="105156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结论：我申请西湖时的核心定位，不是单一软件能力，而是物理理解、数值建模和工程实现的组合。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02/06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SELF-DRIVEN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完整的我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独立远行训练了我面对未知时的推进方式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我不是把徒步当成装饰经历，而是把它理解为规划、判断风险、处理意外和复盘迭代的长期训练。</a:t>
            </a:r>
          </a:p>
        </p:txBody>
      </p:sp>
      <p:pic>
        <p:nvPicPr>
          <p:cNvPr id="7" name="Picture 6" descr="hike_l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01952"/>
            <a:ext cx="1682496" cy="1261872"/>
          </a:xfrm>
          <a:prstGeom prst="rect">
            <a:avLst/>
          </a:prstGeom>
        </p:spPr>
      </p:pic>
      <p:pic>
        <p:nvPicPr>
          <p:cNvPr id="8" name="Picture 7" descr="hike_mount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01952"/>
            <a:ext cx="1682496" cy="1261872"/>
          </a:xfrm>
          <a:prstGeom prst="rect">
            <a:avLst/>
          </a:prstGeom>
        </p:spPr>
      </p:pic>
      <p:pic>
        <p:nvPicPr>
          <p:cNvPr id="9" name="Picture 8" descr="snow_mount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901952"/>
            <a:ext cx="1682496" cy="126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" y="3364992"/>
            <a:ext cx="5440680" cy="17190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21024"/>
            <a:ext cx="2560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Hiragino Sans GB"/>
              </a:rPr>
              <a:t>旅行与徒步给我的训练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4087368"/>
            <a:ext cx="109728" cy="10972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27584"/>
                </a:solidFill>
                <a:latin typeface="Hiragino Sans GB"/>
              </a:rPr>
              <a:t>路线与预算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403250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把目标拆成路线、时间、装备、补给和预算。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" y="4407407"/>
            <a:ext cx="109728" cy="10972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4F805E"/>
                </a:solidFill>
                <a:latin typeface="Hiragino Sans GB"/>
              </a:rPr>
              <a:t>风险判断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435254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在天气、迷路、设备和语言环境变化中快速决策。</a:t>
            </a:r>
          </a:p>
        </p:txBody>
      </p:sp>
      <p:sp>
        <p:nvSpPr>
          <p:cNvPr id="18" name="Oval 17"/>
          <p:cNvSpPr/>
          <p:nvPr/>
        </p:nvSpPr>
        <p:spPr>
          <a:xfrm>
            <a:off x="941832" y="4727448"/>
            <a:ext cx="109728" cy="10972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67258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C48436"/>
                </a:solidFill>
                <a:latin typeface="Hiragino Sans GB"/>
              </a:rPr>
              <a:t>复盘迭代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4248" y="467258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把一次次问题转化为下一次更可靠的方案。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1883664"/>
            <a:ext cx="4983480" cy="3218688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2212848"/>
            <a:ext cx="16459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27584"/>
                </a:solidFill>
                <a:latin typeface="Hiragino Sans GB"/>
              </a:rPr>
              <a:t>迁移到科研训练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2633472"/>
            <a:ext cx="400507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我现在的项目也沿用同一种方式：先做出可运行版本，再暴露问题、补齐知识、继续迭代。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456432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3447288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不确定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3447288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方向未完全收敛，但主动调研、联系老师、比较课题组。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31920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922776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可执行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39227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把模糊兴趣拆成公式、代码、图像和测试。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4407408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4398264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可复盘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4398264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用网页、GitHub、文档保存过程，而不是只留下结果。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1033272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20" b="1">
                <a:solidFill>
                  <a:srgbClr val="121B27"/>
                </a:solidFill>
                <a:latin typeface="Hiragino Sans GB"/>
              </a:rPr>
              <a:t>关键词：自驱探索 / 独立规划 / 快速试错 / 持续迭代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03/06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PROJECT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项目证据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项目重点不是“成果成熟”，而是自驱拆解和实现能力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我更适合被理解为：能从一个真实问题出发，快速做出可运行系统，并在错误中继续收敛。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08208" y="786384"/>
            <a:ext cx="804672" cy="804672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page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841247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16768" y="1645920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Hiragino Sans GB"/>
              </a:rPr>
              <a:t>扫码看主页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932688"/>
            <a:ext cx="1737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50" b="1">
                <a:solidFill>
                  <a:srgbClr val="127584"/>
                </a:solidFill>
                <a:latin typeface="Hiragino Sans GB"/>
              </a:rPr>
              <a:t>个人主页与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8512" y="1207008"/>
            <a:ext cx="186537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60" b="0">
                <a:solidFill>
                  <a:srgbClr val="606C7A"/>
                </a:solidFill>
                <a:latin typeface="Aptos"/>
              </a:rPr>
              <a:t>hengqi61-maker.github.io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QUANTUM / VISUALIZATION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氢原子轨道电子云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问题来源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想理解轨道形状到底应由什么定义，而不只是背图像。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实现路径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从 |psi(r,theta,phi)|^2 出发，用 Monte Carlo 采样和三维可视化检验理解。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证明能力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能把公式、概率分布、采样误差和可视化结果串起来。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Aptos"/>
              </a:rPr>
              <a:t>SOLID PHYSICS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晶体结构与倒空间教具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问题来源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104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固体物理中的 Miller 指数、倒格子、布里渊区较抽象。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实现路径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4104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把 SC/BCC/FCC/HCP、正倒空间、Ewald 球等做成交互对象。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证明能力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能把空间几何关系转化为可观察、可调参的教学工具。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66176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Aptos"/>
              </a:rPr>
              <a:t>AI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Memory Engine / Agent 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问题来源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8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大模型上下文有限，重要信息容易遗忘，科研过程也需要长期记录。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实现路径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8008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做长期记忆、语义检索、衰减、巩固和文档化流程。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证明能力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8008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能用 AI 协作提升学习、代码实验和科研工作流效率。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605272"/>
            <a:ext cx="10561320" cy="393192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8" y="5715000"/>
            <a:ext cx="10104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60" b="1">
                <a:solidFill>
                  <a:srgbClr val="127584"/>
                </a:solidFill>
                <a:latin typeface="Hiragino Sans GB"/>
              </a:rPr>
              <a:t>共同证明：我会主动找问题、做原型、验证和迭代。更多项目证据可扫码查看个人主页。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04/06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PHD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博士阶段科研计划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博士阶段：从方向兴趣到可验证问题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我不把博士计划写成锁死标签，而是把近期交流中的兴趣收束成可进入课题组继续深化的问题框架。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214884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3055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1B27"/>
                </a:solidFill>
                <a:latin typeface="Hiragino Sans GB"/>
              </a:rPr>
              <a:t>兴趣来源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1664208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10" b="0">
                <a:solidFill>
                  <a:srgbClr val="606C7A"/>
                </a:solidFill>
                <a:latin typeface="Hiragino Sans GB"/>
              </a:rPr>
              <a:t>南科大夏令营交流让我集中接触到生物物理、凝聚态、计算物理 / AI 等方向。
它们背后共同关心的是：结构、动力学与功能 / 物性如何连接。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52928" y="2779776"/>
            <a:ext cx="365760" cy="0"/>
          </a:xfrm>
          <a:prstGeom prst="line">
            <a:avLst/>
          </a:prstGeom>
          <a:ln w="22860">
            <a:solidFill>
              <a:srgbClr val="1275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8688" y="1847088"/>
            <a:ext cx="5468112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F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112264"/>
            <a:ext cx="128016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7584"/>
                </a:solidFill>
                <a:latin typeface="Hiragino Sans GB"/>
              </a:rPr>
              <a:t>核心问题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532888"/>
            <a:ext cx="46177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20" b="1">
                <a:solidFill>
                  <a:srgbClr val="121B27"/>
                </a:solidFill>
                <a:latin typeface="Hiragino Sans GB"/>
              </a:rPr>
              <a:t>复杂体系中，微观结构如何产生动力学，
动力学又如何决定生命功能或材料物性？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3310128"/>
            <a:ext cx="4572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606C7A"/>
                </a:solidFill>
                <a:latin typeface="Hiragino Sans GB"/>
              </a:rPr>
              <a:t>共同语言：结构 -&gt; 动力学 -&gt; 功能 / 物性 -&gt; 可解释模型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5088" y="2779776"/>
            <a:ext cx="347472" cy="0"/>
          </a:xfrm>
          <a:prstGeom prst="line">
            <a:avLst/>
          </a:prstGeom>
          <a:ln w="22860">
            <a:solidFill>
              <a:srgbClr val="1275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52560" y="1847088"/>
            <a:ext cx="2450592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2130552"/>
            <a:ext cx="1188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1B27"/>
                </a:solidFill>
                <a:latin typeface="Hiragino Sans GB"/>
              </a:rPr>
              <a:t>长期目标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587752"/>
            <a:ext cx="1755648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10" b="0">
                <a:solidFill>
                  <a:srgbClr val="606C7A"/>
                </a:solidFill>
                <a:latin typeface="Hiragino Sans GB"/>
              </a:rPr>
              <a:t>把物理直觉、计算方法和交叉科学问题连接起来。
在具体课题组中，把兴趣收束为可计算、可验证、可解释的研究问题。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133087"/>
            <a:ext cx="3337560" cy="676656"/>
          </a:xfrm>
          <a:prstGeom prst="roundRect">
            <a:avLst/>
          </a:prstGeom>
          <a:solidFill>
            <a:srgbClr val="EDF7F1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251960"/>
            <a:ext cx="114300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4334256"/>
            <a:ext cx="99669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4F805E"/>
                </a:solidFill>
                <a:latin typeface="Hiragino Sans GB"/>
              </a:rPr>
              <a:t>生物物理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Hiragino Sans GB"/>
              </a:rPr>
              <a:t>蛋白质构象、分子动力学、生命系统功能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4133087"/>
            <a:ext cx="3337560" cy="676656"/>
          </a:xfrm>
          <a:prstGeom prst="roundRect">
            <a:avLst/>
          </a:prstGeom>
          <a:solidFill>
            <a:srgbClr val="FFF7EB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45736" y="4251960"/>
            <a:ext cx="114300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4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8888" y="4334256"/>
            <a:ext cx="99669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C48436"/>
                </a:solidFill>
                <a:latin typeface="Hiragino Sans GB"/>
              </a:rPr>
              <a:t>凝聚态物理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4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Hiragino Sans GB"/>
              </a:rPr>
              <a:t>晶体结构、电子结构、材料物性与实验反馈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4133087"/>
            <a:ext cx="3337560" cy="676656"/>
          </a:xfrm>
          <a:prstGeom prst="roundRect">
            <a:avLst/>
          </a:prstGeom>
          <a:solidFill>
            <a:srgbClr val="F4F0F7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31352" y="4251960"/>
            <a:ext cx="141732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6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04504" y="4334256"/>
            <a:ext cx="127101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665080"/>
                </a:solidFill>
                <a:latin typeface="Hiragino Sans GB"/>
              </a:rPr>
              <a:t>计算物理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Hiragino Sans GB"/>
              </a:rPr>
              <a:t>数值模拟、机器学习、数据反演与模型解释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084064"/>
            <a:ext cx="210312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20" b="1">
                <a:solidFill>
                  <a:srgbClr val="121B27"/>
                </a:solidFill>
                <a:latin typeface="Hiragino Sans GB"/>
              </a:rPr>
              <a:t>博士阶段的实际做法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" y="5614416"/>
            <a:ext cx="329184" cy="329184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4516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Hiragino Sans GB"/>
              </a:rPr>
              <a:t>补基础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Hiragino Sans GB"/>
              </a:rPr>
              <a:t>统计物理、凝聚态 / 生物物理、分子模拟或第一性原理、机器学习。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93008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6744" y="5614416"/>
            <a:ext cx="329184" cy="329184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50868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Hiragino Sans GB"/>
              </a:rPr>
              <a:t>复现代表作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Hiragino Sans GB"/>
              </a:rPr>
              <a:t>复现方法与结果，训练文献阅读、代码复现和结果复核。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483096" y="5614416"/>
            <a:ext cx="329184" cy="329184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67220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31152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Hiragino Sans GB"/>
              </a:rPr>
              <a:t>选具体体系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Hiragino Sans GB"/>
              </a:rPr>
              <a:t>跟随导师方向，在蛋白质或材料体系中找到可计算问题。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25712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99448" y="5614416"/>
            <a:ext cx="329184" cy="329184"/>
          </a:xfrm>
          <a:prstGeom prst="ellipse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3572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47504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Hiragino Sans GB"/>
              </a:rPr>
              <a:t>形成输出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Hiragino Sans GB"/>
              </a:rPr>
              <a:t>沉淀可复现代码、可验证模型和物理机制解释。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05/06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收束与问答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6692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FFFFFF"/>
                </a:solidFill>
                <a:latin typeface="Hiragino Sans GB"/>
              </a:rPr>
              <a:t>我希望西湖看到的是一个完整的人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035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CBDCE0"/>
                </a:solidFill>
                <a:latin typeface="Hiragino Sans GB"/>
              </a:rPr>
              <a:t>基础扎实，但还在收敛方向；成果不算成熟，但自驱探索和实现能力真实存在。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286000"/>
            <a:ext cx="292608" cy="29260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3820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2402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学术底座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2585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物理与数学课程支撑后续建模和数值训练。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200400"/>
            <a:ext cx="292608" cy="29260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2964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1546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自驱探索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1729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从徒步旅行到主动做项目，习惯先行动再迭代。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114800"/>
            <a:ext cx="292608" cy="29260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42108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40690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可复现能力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7792" y="40873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用代码、网页和文档沉淀问题、方法和结果。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1078992"/>
            <a:ext cx="4069080" cy="4096512"/>
          </a:xfrm>
          <a:prstGeom prst="round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1444752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Hiragino Sans GB"/>
              </a:rPr>
              <a:t>汇报收束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1874519"/>
            <a:ext cx="333756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把探索未知的习惯，
转化为扎实、可复现的科研能力。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246120"/>
            <a:ext cx="2971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60" b="1">
                <a:solidFill>
                  <a:srgbClr val="2A3440"/>
                </a:solidFill>
                <a:latin typeface="Hiragino Sans GB"/>
              </a:rPr>
              <a:t>希望在西湖接受更严格、长期的科研训练。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60520"/>
            <a:ext cx="2999232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9" b="0">
                <a:solidFill>
                  <a:srgbClr val="606C7A"/>
                </a:solidFill>
                <a:latin typeface="Aptos"/>
              </a:rPr>
              <a:t>hengqi61@gmail.com
github.com/hengqi61-maker
hengqi61-maker.github.io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Aptos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15391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Hiragino Sans GB"/>
              </a:rPr>
              <a:t>齐恒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